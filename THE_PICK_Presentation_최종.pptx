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49"/>
  </p:normalViewPr>
  <p:slideViewPr>
    <p:cSldViewPr snapToGrid="0">
      <p:cViewPr>
        <p:scale>
          <a:sx n="125" d="100"/>
          <a:sy n="125" d="100"/>
        </p:scale>
        <p:origin x="-312" y="-800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  <a:p>
            <a:r>
              <a:t>
[Sources]
- User-provided THE PICK logo: /Users/kkj/Downloads/로고.png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  <a:p>
            <a:r>
              <a:t>- Figma source: https://www.figma.com/design/pre29fjt9xOObmvRp7DxS8/Codex-Hackathon?node-id=0-1</a:t>
            </a:r>
          </a:p>
          <a:p>
            <a:r>
              <a:t>
[Sources]
- User-provided seller login flow, cropped to role selection → login → phone verification: /Users/kkj/Downloads/사장님 로그인 화면.png
- User-provided onboarding board, cropped to store and participant information: /Users/kkj/Downloads/로그인 · 역할 온보딩 플로우.png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  <a:p>
            <a:r>
              <a:t>- Figma source: https://www.figma.com/design/pre29fjt9xOObmvRp7DxS8/Codex-Hackathon?node-id=0-1</a:t>
            </a:r>
          </a:p>
          <a:p>
            <a:r>
              <a:t>
[Sources]
- User-provided seller MVP flow, cropped into creation/settings and progress/result groups: /Users/kkj/Downloads/사장님 MVP 플로우 — Low-fi.png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product brief, demo UI, and team-provided demo data.</a:t>
            </a:r>
          </a:p>
          <a:p>
            <a:r>
              <a:t>- User-provided THE PICK logo and screen-recording thumbnail; Figma screenshots are cited on the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0" y="2571750"/>
            <a:ext cx="5143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6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830" y="2588289"/>
            <a:ext cx="1114644" cy="1608992"/>
          </a:xfrm>
          <a:prstGeom prst="rect">
            <a:avLst/>
          </a:prstGeom>
        </p:spPr>
      </p:pic>
      <p:pic>
        <p:nvPicPr>
          <p:cNvPr id="30" name="그림 30"/>
          <p:cNvPicPr>
            <a:picLocks noChangeAspect="1"/>
          </p:cNvPicPr>
          <p:nvPr/>
        </p:nvPicPr>
        <p:blipFill rotWithShape="1">
          <a:blip r:embed="rId4"/>
          <a:srcRect r="426"/>
          <a:stretch>
            <a:fillRect/>
          </a:stretch>
        </p:blipFill>
        <p:spPr>
          <a:xfrm>
            <a:off x="7515943" y="2343150"/>
            <a:ext cx="1524000" cy="1862553"/>
          </a:xfrm>
          <a:prstGeom prst="round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69AE1B5-0C50-46CB-9A4E-3DC2AF331655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619125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36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“광고 전에, </a:t>
            </a:r>
          </a:p>
          <a:p>
            <a:pPr>
              <a:buNone/>
              <a:defRPr sz="36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고객에게 물어보세요.”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BC6D09-D891-4485-9DD1-12373759C67F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561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A/B 검증 플랫폼 · 두 가지 홍보물 중</a:t>
            </a:r>
          </a:p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어떤 안을 쓸지 광고 집행 전에 검증합니다.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D22A70B-919A-427A-A771-3CFD83B70E00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457200" cy="457200"/>
          </a:xfrm>
          <a:prstGeom prst="ellipse">
            <a:avLst/>
          </a:prstGeom>
          <a:solidFill>
            <a:srgbClr val="FFF0B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2B4ABA-ABE0-474E-B1AE-665C2C6739E8}"/>
              </a:ext>
            </a:extLst>
          </p:cNvPr>
          <p:cNvSpPr>
            <a:spLocks noGrp="1"/>
          </p:cNvSpPr>
          <p:nvPr/>
        </p:nvSpPr>
        <p:spPr>
          <a:xfrm>
            <a:off x="7696200" y="18669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A914D6B4-9CD6-407D-80EC-8EEB0C86633B}"/>
              </a:ext>
            </a:extLst>
          </p:cNvPr>
          <p:cNvSpPr>
            <a:spLocks noGrp="1"/>
          </p:cNvSpPr>
          <p:nvPr/>
        </p:nvSpPr>
        <p:spPr>
          <a:xfrm>
            <a:off x="7584771" y="4287267"/>
            <a:ext cx="1143000" cy="0"/>
          </a:xfrm>
          <a:prstGeom prst="line">
            <a:avLst/>
          </a:prstGeom>
          <a:noFill/>
          <a:ln w="19050">
            <a:solidFill>
              <a:srgbClr val="5C42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96A4F8-1972-443D-B103-04D612B45182}"/>
              </a:ext>
            </a:extLst>
          </p:cNvPr>
          <p:cNvSpPr>
            <a:spLocks noGrp="1"/>
          </p:cNvSpPr>
          <p:nvPr/>
        </p:nvSpPr>
        <p:spPr>
          <a:xfrm>
            <a:off x="7715250" y="447737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5C421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rPr>
              <a:t>고객 선택 68%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57E9210-C42B-4EE6-9389-410B5A3CABF4}"/>
              </a:ext>
            </a:extLst>
          </p:cNvPr>
          <p:cNvSpPr>
            <a:spLocks noGrp="1"/>
          </p:cNvSpPr>
          <p:nvPr/>
        </p:nvSpPr>
        <p:spPr>
          <a:xfrm>
            <a:off x="9715500" y="2095500"/>
            <a:ext cx="457200" cy="4572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C3F873-BB2A-4228-BCDF-66EDF29F9EC1}"/>
              </a:ext>
            </a:extLst>
          </p:cNvPr>
          <p:cNvSpPr>
            <a:spLocks noGrp="1"/>
          </p:cNvSpPr>
          <p:nvPr/>
        </p:nvSpPr>
        <p:spPr>
          <a:xfrm>
            <a:off x="9715500" y="21526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18" name="직선 연결선[R] 17">
            <a:extLst>
              <a:ext uri="{FF2B5EF4-FFF2-40B4-BE49-F238E27FC236}">
                <a16:creationId xmlns:a16="http://schemas.microsoft.com/office/drawing/2014/main" id="{02D604F8-367A-45DA-A820-F7ECD5521CAE}"/>
              </a:ext>
            </a:extLst>
          </p:cNvPr>
          <p:cNvSpPr>
            <a:spLocks noGrp="1"/>
          </p:cNvSpPr>
          <p:nvPr/>
        </p:nvSpPr>
        <p:spPr>
          <a:xfrm>
            <a:off x="9734550" y="4261129"/>
            <a:ext cx="1143000" cy="0"/>
          </a:xfrm>
          <a:prstGeom prst="line">
            <a:avLst/>
          </a:prstGeom>
          <a:noFill/>
          <a:ln w="19050">
            <a:solidFill>
              <a:srgbClr val="1434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1F6184-33DF-4440-B67D-6A8837CD7453}"/>
              </a:ext>
            </a:extLst>
          </p:cNvPr>
          <p:cNvSpPr>
            <a:spLocks noGrp="1"/>
          </p:cNvSpPr>
          <p:nvPr/>
        </p:nvSpPr>
        <p:spPr>
          <a:xfrm>
            <a:off x="9734550" y="4451629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4345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4345D"/>
                </a:solidFill>
                <a:latin typeface="Noto Sans KR"/>
                <a:ea typeface="Noto Sans KR"/>
                <a:cs typeface="Noto Sans KR"/>
              </a:rPr>
              <a:t>고객 선택 32%</a:t>
            </a:r>
          </a:p>
        </p:txBody>
      </p:sp>
      <p:sp>
        <p:nvSpPr>
          <p:cNvPr id="20" name="직선 연결선[R] 19">
            <a:extLst>
              <a:ext uri="{FF2B5EF4-FFF2-40B4-BE49-F238E27FC236}">
                <a16:creationId xmlns:a16="http://schemas.microsoft.com/office/drawing/2014/main" id="{A5CA6694-6E8C-4061-9CC5-C448ECE5157D}"/>
              </a:ext>
            </a:extLst>
          </p:cNvPr>
          <p:cNvSpPr>
            <a:spLocks noGrp="1"/>
          </p:cNvSpPr>
          <p:nvPr/>
        </p:nvSpPr>
        <p:spPr>
          <a:xfrm rot="10800000">
            <a:off x="9105900" y="4905375"/>
            <a:ext cx="3048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2602425B-5BD6-463D-B698-0E9BACBD1A30}"/>
              </a:ext>
            </a:extLst>
          </p:cNvPr>
          <p:cNvSpPr>
            <a:spLocks noGrp="1"/>
          </p:cNvSpPr>
          <p:nvPr/>
        </p:nvSpPr>
        <p:spPr>
          <a:xfrm rot="10800000">
            <a:off x="8991683" y="480060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D1688E26-94CD-4426-A181-F6AE8FA55238}"/>
              </a:ext>
            </a:extLst>
          </p:cNvPr>
          <p:cNvSpPr>
            <a:spLocks noGrp="1"/>
          </p:cNvSpPr>
          <p:nvPr/>
        </p:nvSpPr>
        <p:spPr>
          <a:xfrm>
            <a:off x="7829550" y="521970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DBB8DB-E9E2-4E74-8232-17710E3EF283}"/>
              </a:ext>
            </a:extLst>
          </p:cNvPr>
          <p:cNvSpPr>
            <a:spLocks noGrp="1"/>
          </p:cNvSpPr>
          <p:nvPr/>
        </p:nvSpPr>
        <p:spPr>
          <a:xfrm>
            <a:off x="7829550" y="5295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선택받은 안을 활용</a:t>
            </a:r>
          </a:p>
        </p:txBody>
      </p:sp>
      <p:sp>
        <p:nvSpPr>
          <p:cNvPr id="24" name="직선 연결선[R] 23">
            <a:extLst>
              <a:ext uri="{FF2B5EF4-FFF2-40B4-BE49-F238E27FC236}">
                <a16:creationId xmlns:a16="http://schemas.microsoft.com/office/drawing/2014/main" id="{4E8E0688-7446-48F1-869A-2C6CB93EFD2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1139CE-69F0-4D57-BAE0-7D61B0CA431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 / PRESENTATION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CBB413-80FC-4C75-B502-72C33D88603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044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97C965-68C2-4349-AD9A-76B6754F1C7E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8DB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8DBBFF"/>
                </a:solidFill>
                <a:latin typeface="Noto Sans KR"/>
                <a:ea typeface="Noto Sans KR"/>
                <a:cs typeface="Noto Sans KR"/>
              </a:rPr>
              <a:t>THE PICK / HACKATHON PRESENTATION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61F312-F26F-4932-BAF8-567B8586BA5E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42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1"/>
          </a:bodyPr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발표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2A2728-976B-4824-B76F-40F7B2AB121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문제에서 확장까지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FF6254A-3809-4B71-B919-05AD9C5DE929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381250" cy="1695450"/>
          </a:xfrm>
          <a:prstGeom prst="roundRect">
            <a:avLst>
              <a:gd name="adj" fmla="val 10526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30E6D6-127B-421D-BEEA-9829D7E5F7E4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004534-5D62-48CD-8055-EB3B5666D343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1885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D314C2-EE6D-4D27-A883-4BBE38CF44B9}"/>
              </a:ext>
            </a:extLst>
          </p:cNvPr>
          <p:cNvSpPr>
            <a:spLocks noGrp="1"/>
          </p:cNvSpPr>
          <p:nvPr/>
        </p:nvSpPr>
        <p:spPr>
          <a:xfrm>
            <a:off x="952500" y="4133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왜 필요한가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9071622-2B4E-4AC2-B0A1-D0D3648E885A}"/>
              </a:ext>
            </a:extLst>
          </p:cNvPr>
          <p:cNvSpPr>
            <a:spLocks noGrp="1"/>
          </p:cNvSpPr>
          <p:nvPr/>
        </p:nvSpPr>
        <p:spPr>
          <a:xfrm>
            <a:off x="3333750" y="2876550"/>
            <a:ext cx="2381250" cy="1695449"/>
          </a:xfrm>
          <a:prstGeom prst="roundRect">
            <a:avLst>
              <a:gd name="adj" fmla="val 10526"/>
            </a:avLst>
          </a:prstGeom>
          <a:solidFill>
            <a:srgbClr val="183968"/>
          </a:solidFill>
          <a:ln w="9525">
            <a:solidFill>
              <a:srgbClr val="2E558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D4A3B-8841-4492-A192-C9B5D9153B55}"/>
              </a:ext>
            </a:extLst>
          </p:cNvPr>
          <p:cNvSpPr>
            <a:spLocks noGrp="1"/>
          </p:cNvSpPr>
          <p:nvPr/>
        </p:nvSpPr>
        <p:spPr>
          <a:xfrm>
            <a:off x="3600450" y="3143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A8E198-F93C-4B9E-9D4C-915D13CD68C4}"/>
              </a:ext>
            </a:extLst>
          </p:cNvPr>
          <p:cNvSpPr>
            <a:spLocks noGrp="1"/>
          </p:cNvSpPr>
          <p:nvPr/>
        </p:nvSpPr>
        <p:spPr>
          <a:xfrm>
            <a:off x="3600450" y="3638550"/>
            <a:ext cx="1885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175832-CE99-477B-91CB-C7A4FFD5D6FC}"/>
              </a:ext>
            </a:extLst>
          </p:cNvPr>
          <p:cNvSpPr>
            <a:spLocks noGrp="1"/>
          </p:cNvSpPr>
          <p:nvPr/>
        </p:nvSpPr>
        <p:spPr>
          <a:xfrm>
            <a:off x="3600450" y="4133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핵심 흐름이 </a:t>
            </a:r>
            <a:endParaRPr sz="1200">
              <a:solidFill>
                <a:srgbClr val="C8DBF8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실제로 이어지는가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E392802-1D46-4200-AE8E-526D6C31A750}"/>
              </a:ext>
            </a:extLst>
          </p:cNvPr>
          <p:cNvSpPr>
            <a:spLocks noGrp="1"/>
          </p:cNvSpPr>
          <p:nvPr/>
        </p:nvSpPr>
        <p:spPr>
          <a:xfrm>
            <a:off x="5981700" y="2876550"/>
            <a:ext cx="2381250" cy="1695448"/>
          </a:xfrm>
          <a:prstGeom prst="roundRect">
            <a:avLst>
              <a:gd name="adj" fmla="val 10526"/>
            </a:avLst>
          </a:prstGeom>
          <a:solidFill>
            <a:srgbClr val="183968"/>
          </a:solidFill>
          <a:ln w="9525">
            <a:solidFill>
              <a:srgbClr val="2E558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44FD11-153B-4AA7-A3A7-F288D574A226}"/>
              </a:ext>
            </a:extLst>
          </p:cNvPr>
          <p:cNvSpPr>
            <a:spLocks noGrp="1"/>
          </p:cNvSpPr>
          <p:nvPr/>
        </p:nvSpPr>
        <p:spPr>
          <a:xfrm>
            <a:off x="6248400" y="3143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EDA911-82A0-4EB3-96A4-0CF337D7627F}"/>
              </a:ext>
            </a:extLst>
          </p:cNvPr>
          <p:cNvSpPr>
            <a:spLocks noGrp="1"/>
          </p:cNvSpPr>
          <p:nvPr/>
        </p:nvSpPr>
        <p:spPr>
          <a:xfrm>
            <a:off x="6248400" y="3638550"/>
            <a:ext cx="1885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CECC09-986F-42C1-87F3-32999A26FD2B}"/>
              </a:ext>
            </a:extLst>
          </p:cNvPr>
          <p:cNvSpPr>
            <a:spLocks noGrp="1"/>
          </p:cNvSpPr>
          <p:nvPr/>
        </p:nvSpPr>
        <p:spPr>
          <a:xfrm>
            <a:off x="6248400" y="4133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sz="120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 활용은 어떻게 했는가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50372C1-ADF2-4F9D-A4D7-DBB113B5B31B}"/>
              </a:ext>
            </a:extLst>
          </p:cNvPr>
          <p:cNvSpPr>
            <a:spLocks noGrp="1"/>
          </p:cNvSpPr>
          <p:nvPr/>
        </p:nvSpPr>
        <p:spPr>
          <a:xfrm>
            <a:off x="8629650" y="2876550"/>
            <a:ext cx="2381250" cy="1714495"/>
          </a:xfrm>
          <a:prstGeom prst="roundRect">
            <a:avLst>
              <a:gd name="adj" fmla="val 10526"/>
            </a:avLst>
          </a:prstGeom>
          <a:solidFill>
            <a:srgbClr val="183968"/>
          </a:solidFill>
          <a:ln w="9525">
            <a:solidFill>
              <a:srgbClr val="2E558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793FA6-3E38-4406-BDE2-8B3374DF554E}"/>
              </a:ext>
            </a:extLst>
          </p:cNvPr>
          <p:cNvSpPr>
            <a:spLocks noGrp="1"/>
          </p:cNvSpPr>
          <p:nvPr/>
        </p:nvSpPr>
        <p:spPr>
          <a:xfrm>
            <a:off x="8896350" y="3143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EC5E8-FFD7-471E-87BD-BAAA68EABA68}"/>
              </a:ext>
            </a:extLst>
          </p:cNvPr>
          <p:cNvSpPr>
            <a:spLocks noGrp="1"/>
          </p:cNvSpPr>
          <p:nvPr/>
        </p:nvSpPr>
        <p:spPr>
          <a:xfrm>
            <a:off x="8896350" y="3638550"/>
            <a:ext cx="1885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4724AD-9DB6-4EFC-8800-A69A505A4AD9}"/>
              </a:ext>
            </a:extLst>
          </p:cNvPr>
          <p:cNvSpPr>
            <a:spLocks noGrp="1"/>
          </p:cNvSpPr>
          <p:nvPr/>
        </p:nvSpPr>
        <p:spPr>
          <a:xfrm>
            <a:off x="8896350" y="4133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어떻게 확장되는가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4A47D0-F78B-4BD5-9060-61944CFCD0A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DBBFF"/>
                </a:solidFill>
                <a:latin typeface="Noto Sans KR"/>
                <a:ea typeface="Noto Sans KR"/>
                <a:cs typeface="Noto Sans KR"/>
              </a:rPr>
              <a:t>문제 → 증명 → 제작 → 확장</a:t>
            </a:r>
          </a:p>
        </p:txBody>
      </p:sp>
      <p:sp>
        <p:nvSpPr>
          <p:cNvPr id="21" name="직선 연결선[R] 20">
            <a:extLst>
              <a:ext uri="{FF2B5EF4-FFF2-40B4-BE49-F238E27FC236}">
                <a16:creationId xmlns:a16="http://schemas.microsoft.com/office/drawing/2014/main" id="{11FB6D2F-9D91-4932-9527-A2955279F4A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E20768-AF7F-4E9C-949B-6192F4EDB55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 / EVALUATION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883F33-46AE-48A4-9337-5DBA8CE627C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3</a:t>
            </a:r>
            <a:endParaRPr sz="825" b="1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749933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7FCF79-96D9-40A9-AA37-541FA576CEB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01 / 문제의 차별성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48CA3F-1085-4728-9BAA-6965C9C9607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포스터 제작은 쉬워졌지만,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검증은 여전히 비쌉니다.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5F0C36-F15D-448F-A0A0-CB29461FCB6C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AI로 여러 안을 만드는 비용은 낮아졌지만, 어느 안을 써야 할지 확인하는 비용은 여전히 큽니다.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310B1D4-2517-4E33-8FEF-36EAA9B75F9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6667500" cy="28575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9EAD29-F123-4D5D-B9D3-A24D3D7A2830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사장님이 겪는 현실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095E3D1-126F-4863-BB92-9506E147D2EA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304800" cy="3048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527C38-5569-4131-8E65-60F75131C736}"/>
              </a:ext>
            </a:extLst>
          </p:cNvPr>
          <p:cNvSpPr>
            <a:spLocks noGrp="1"/>
          </p:cNvSpPr>
          <p:nvPr/>
        </p:nvSpPr>
        <p:spPr>
          <a:xfrm>
            <a:off x="1028700" y="33528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8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337D3F-10B4-4F15-BED2-F9D1CC1A5930}"/>
              </a:ext>
            </a:extLst>
          </p:cNvPr>
          <p:cNvSpPr>
            <a:spLocks noGrp="1"/>
          </p:cNvSpPr>
          <p:nvPr/>
        </p:nvSpPr>
        <p:spPr>
          <a:xfrm>
            <a:off x="1504950" y="32670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만들기는 쉬워졌다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0C3647-A927-4117-92B0-37C75C727DEC}"/>
              </a:ext>
            </a:extLst>
          </p:cNvPr>
          <p:cNvSpPr>
            <a:spLocks noGrp="1"/>
          </p:cNvSpPr>
          <p:nvPr/>
        </p:nvSpPr>
        <p:spPr>
          <a:xfrm>
            <a:off x="1504950" y="3552825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Codex·Canva로 포스터 여러 장을 빠르게 만들 수 있다.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60BFA7E3-D523-4D31-85AB-A1D74061073F}"/>
              </a:ext>
            </a:extLst>
          </p:cNvPr>
          <p:cNvSpPr>
            <a:spLocks noGrp="1"/>
          </p:cNvSpPr>
          <p:nvPr/>
        </p:nvSpPr>
        <p:spPr>
          <a:xfrm>
            <a:off x="1504950" y="3857625"/>
            <a:ext cx="542925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DDB1482-4186-4D13-BE77-2AE3CE0194AC}"/>
              </a:ext>
            </a:extLst>
          </p:cNvPr>
          <p:cNvSpPr>
            <a:spLocks noGrp="1"/>
          </p:cNvSpPr>
          <p:nvPr/>
        </p:nvSpPr>
        <p:spPr>
          <a:xfrm>
            <a:off x="1028700" y="3962400"/>
            <a:ext cx="304800" cy="3048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954785-1E80-4F82-88E9-C51D7A100C02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8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3E85D6-675A-4F57-8C0D-7F65DA600AF4}"/>
              </a:ext>
            </a:extLst>
          </p:cNvPr>
          <p:cNvSpPr>
            <a:spLocks noGrp="1"/>
          </p:cNvSpPr>
          <p:nvPr/>
        </p:nvSpPr>
        <p:spPr>
          <a:xfrm>
            <a:off x="1504950" y="39528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기존 A/B 테스트는 부담스럽다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96A34D-CECB-417F-9634-3D6A8DCFFC7D}"/>
              </a:ext>
            </a:extLst>
          </p:cNvPr>
          <p:cNvSpPr>
            <a:spLocks noGrp="1"/>
          </p:cNvSpPr>
          <p:nvPr/>
        </p:nvSpPr>
        <p:spPr>
          <a:xfrm>
            <a:off x="1504950" y="4238625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광고비·운영 시간·표본 확보가 필요해 소상공인이 </a:t>
            </a:r>
            <a:r>
              <a:rPr sz="120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직접 진행하기</a:t>
            </a: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 어렵다.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0C83332B-AF4F-4F78-B262-C25FFB122BC6}"/>
              </a:ext>
            </a:extLst>
          </p:cNvPr>
          <p:cNvSpPr>
            <a:spLocks noGrp="1"/>
          </p:cNvSpPr>
          <p:nvPr/>
        </p:nvSpPr>
        <p:spPr>
          <a:xfrm>
            <a:off x="1504950" y="4543425"/>
            <a:ext cx="542925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31DC3F3-BB63-49FD-B84F-76ABBC3FE1FB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304800" cy="304800"/>
          </a:xfrm>
          <a:prstGeom prst="ellipse">
            <a:avLst/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CBF2368-C130-46CF-A9A6-EE1638831507}"/>
              </a:ext>
            </a:extLst>
          </p:cNvPr>
          <p:cNvSpPr>
            <a:spLocks noGrp="1"/>
          </p:cNvSpPr>
          <p:nvPr/>
        </p:nvSpPr>
        <p:spPr>
          <a:xfrm>
            <a:off x="1028700" y="47244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825" b="1">
                <a:solidFill>
                  <a:srgbClr val="F15B5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15B5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BD0533-6045-4989-A342-AB6F7DDC8A85}"/>
              </a:ext>
            </a:extLst>
          </p:cNvPr>
          <p:cNvSpPr>
            <a:spLocks noGrp="1"/>
          </p:cNvSpPr>
          <p:nvPr/>
        </p:nvSpPr>
        <p:spPr>
          <a:xfrm>
            <a:off x="1504950" y="46386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실행하며 배우기엔 기회비용이 크다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66C185-5F4E-4B6F-B4B8-CE9407D01C0B}"/>
              </a:ext>
            </a:extLst>
          </p:cNvPr>
          <p:cNvSpPr>
            <a:spLocks noGrp="1"/>
          </p:cNvSpPr>
          <p:nvPr/>
        </p:nvSpPr>
        <p:spPr>
          <a:xfrm>
            <a:off x="1504950" y="4924425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잘못된 안으로 광고하면 예산과 고객을 놓치는 시행착오가 생긴다.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B5D4560-6225-496E-B2F0-996569BF3203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3771900" cy="2857500"/>
          </a:xfrm>
          <a:prstGeom prst="roundRect">
            <a:avLst>
              <a:gd name="adj" fmla="val 8667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D997B0-1C5E-4CB2-A08D-C7156DD7379E}"/>
              </a:ext>
            </a:extLst>
          </p:cNvPr>
          <p:cNvSpPr>
            <a:spLocks noGrp="1"/>
          </p:cNvSpPr>
          <p:nvPr/>
        </p:nvSpPr>
        <p:spPr>
          <a:xfrm>
            <a:off x="8458200" y="2992717"/>
            <a:ext cx="3048000" cy="709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“그래서 어느 포스터를</a:t>
            </a:r>
          </a:p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써야 하지?"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5559BF-4455-4731-AA27-3C0B9660F21C}"/>
              </a:ext>
            </a:extLst>
          </p:cNvPr>
          <p:cNvSpPr>
            <a:spLocks noGrp="1"/>
          </p:cNvSpPr>
          <p:nvPr/>
        </p:nvSpPr>
        <p:spPr>
          <a:xfrm>
            <a:off x="8458200" y="3707092"/>
            <a:ext cx="3048000" cy="709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“홍보 비용을 어떻게</a:t>
            </a:r>
          </a:p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효율적으로 쓸 수 있을까?"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67BE0B-3B25-4A68-94B8-C050D87C6F8C}"/>
              </a:ext>
            </a:extLst>
          </p:cNvPr>
          <p:cNvSpPr>
            <a:spLocks noGrp="1"/>
          </p:cNvSpPr>
          <p:nvPr/>
        </p:nvSpPr>
        <p:spPr>
          <a:xfrm>
            <a:off x="8458200" y="4421467"/>
            <a:ext cx="3048000" cy="709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“광고 전에 고객 반응을</a:t>
            </a:r>
          </a:p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확인할 방법은 없을까?"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149F845B-9F46-49CE-8A60-24DF038BFD2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19100"/>
          </a:xfrm>
          <a:prstGeom prst="roundRect">
            <a:avLst>
              <a:gd name="adj" fmla="val 40909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458C63-FD56-44DA-9818-E33783BE75C5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67" lnSpcReduction="10000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문제의 본질  /  만들기는 쉬워졌지만, 선택의 근거는 아직 부족합니다.</a:t>
            </a:r>
          </a:p>
        </p:txBody>
      </p:sp>
      <p:sp>
        <p:nvSpPr>
          <p:cNvPr id="27" name="직선 연결선[R] 26">
            <a:extLst>
              <a:ext uri="{FF2B5EF4-FFF2-40B4-BE49-F238E27FC236}">
                <a16:creationId xmlns:a16="http://schemas.microsoft.com/office/drawing/2014/main" id="{B526F80D-7DE4-4CD5-A3D1-2D747332C30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8AFEC83-CA12-45E3-B9DE-71A047F398C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09055-3B05-419C-8A9C-1334E3D4BDF8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4</a:t>
            </a:r>
            <a:endParaRPr sz="825" b="1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9711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18B5B7-DD0F-4772-84EB-C9100839C28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01 / 문제의 차별성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D096E0-CC57-442E-82A5-6D24586D65B1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기존 방식은 이미 올린 뒤에야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반응을 확인합니다.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DAB43D-CDF6-45B3-8482-390AEE17A885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소상공인은 보통 수동 비교와 감에 의존합니다.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0B8EAC5-9466-444F-9744-FBD2DA8DD1AE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22669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042CAF9-3185-426C-8EF1-F39139964A39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342900" cy="3429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020098-D246-4517-BC21-9D7A20554DB8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2AB1E5-C5BA-4038-97A7-8E1CFFAD06ED}"/>
              </a:ext>
            </a:extLst>
          </p:cNvPr>
          <p:cNvSpPr>
            <a:spLocks noGrp="1"/>
          </p:cNvSpPr>
          <p:nvPr/>
        </p:nvSpPr>
        <p:spPr>
          <a:xfrm>
            <a:off x="971550" y="3638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포스터 A·B 제작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84B8F2-20C1-455C-B8CD-287C1ABF5357}"/>
              </a:ext>
            </a:extLst>
          </p:cNvPr>
          <p:cNvSpPr>
            <a:spLocks noGrp="1"/>
          </p:cNvSpPr>
          <p:nvPr/>
        </p:nvSpPr>
        <p:spPr>
          <a:xfrm>
            <a:off x="971550" y="400050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Codex·Canva로 여러 안을 만듦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A9876E89-CD2F-4389-959C-66B7194DD02D}"/>
              </a:ext>
            </a:extLst>
          </p:cNvPr>
          <p:cNvSpPr>
            <a:spLocks noGrp="1"/>
          </p:cNvSpPr>
          <p:nvPr/>
        </p:nvSpPr>
        <p:spPr>
          <a:xfrm>
            <a:off x="3067050" y="3676650"/>
            <a:ext cx="1524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B806AF8D-9D57-493B-96EF-B8B7EE4F0D02}"/>
              </a:ext>
            </a:extLst>
          </p:cNvPr>
          <p:cNvSpPr>
            <a:spLocks noGrp="1"/>
          </p:cNvSpPr>
          <p:nvPr/>
        </p:nvSpPr>
        <p:spPr>
          <a:xfrm>
            <a:off x="3181350" y="3581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B593A4C-CB51-4EFC-8B52-EBC64DF2C2E3}"/>
              </a:ext>
            </a:extLst>
          </p:cNvPr>
          <p:cNvSpPr>
            <a:spLocks noGrp="1"/>
          </p:cNvSpPr>
          <p:nvPr/>
        </p:nvSpPr>
        <p:spPr>
          <a:xfrm>
            <a:off x="3486150" y="2838450"/>
            <a:ext cx="22669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7E80867-00B4-4898-A383-ABB9A75F1B2A}"/>
              </a:ext>
            </a:extLst>
          </p:cNvPr>
          <p:cNvSpPr>
            <a:spLocks noGrp="1"/>
          </p:cNvSpPr>
          <p:nvPr/>
        </p:nvSpPr>
        <p:spPr>
          <a:xfrm>
            <a:off x="3695700" y="3067050"/>
            <a:ext cx="342900" cy="3429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8E2266-F5AB-4CBB-A25D-A92AA902A06A}"/>
              </a:ext>
            </a:extLst>
          </p:cNvPr>
          <p:cNvSpPr>
            <a:spLocks noGrp="1"/>
          </p:cNvSpPr>
          <p:nvPr/>
        </p:nvSpPr>
        <p:spPr>
          <a:xfrm>
            <a:off x="3695700" y="31432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12E7C0-2DF5-4536-8DC7-E8577F886911}"/>
              </a:ext>
            </a:extLst>
          </p:cNvPr>
          <p:cNvSpPr>
            <a:spLocks noGrp="1"/>
          </p:cNvSpPr>
          <p:nvPr/>
        </p:nvSpPr>
        <p:spPr>
          <a:xfrm>
            <a:off x="3695700" y="3638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서로 다른 날 게시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BA377E-54F8-447F-B197-EFE70BDD637C}"/>
              </a:ext>
            </a:extLst>
          </p:cNvPr>
          <p:cNvSpPr>
            <a:spLocks noGrp="1"/>
          </p:cNvSpPr>
          <p:nvPr/>
        </p:nvSpPr>
        <p:spPr>
          <a:xfrm>
            <a:off x="3695700" y="400050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요일·시간이 달라짐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E74662CA-C8D5-4135-9B64-C30B4F5598C4}"/>
              </a:ext>
            </a:extLst>
          </p:cNvPr>
          <p:cNvSpPr>
            <a:spLocks noGrp="1"/>
          </p:cNvSpPr>
          <p:nvPr/>
        </p:nvSpPr>
        <p:spPr>
          <a:xfrm>
            <a:off x="5791200" y="3676650"/>
            <a:ext cx="1524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51CFF886-9A3B-4E05-BC10-CF0264CC090D}"/>
              </a:ext>
            </a:extLst>
          </p:cNvPr>
          <p:cNvSpPr>
            <a:spLocks noGrp="1"/>
          </p:cNvSpPr>
          <p:nvPr/>
        </p:nvSpPr>
        <p:spPr>
          <a:xfrm>
            <a:off x="5905500" y="3581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A7DC17A-38E6-45A8-B8C9-135A75A733C5}"/>
              </a:ext>
            </a:extLst>
          </p:cNvPr>
          <p:cNvSpPr>
            <a:spLocks noGrp="1"/>
          </p:cNvSpPr>
          <p:nvPr/>
        </p:nvSpPr>
        <p:spPr>
          <a:xfrm>
            <a:off x="6210300" y="2838450"/>
            <a:ext cx="22669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F6BCF4E-3B15-43AE-998D-130EBE8F0F4A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342900" cy="3429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1A86C0-1AD1-42B7-851D-F75E2418C13B}"/>
              </a:ext>
            </a:extLst>
          </p:cNvPr>
          <p:cNvSpPr>
            <a:spLocks noGrp="1"/>
          </p:cNvSpPr>
          <p:nvPr/>
        </p:nvSpPr>
        <p:spPr>
          <a:xfrm>
            <a:off x="6419850" y="31432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F259DF-04FB-4BAA-8502-180DEFEB9351}"/>
              </a:ext>
            </a:extLst>
          </p:cNvPr>
          <p:cNvSpPr>
            <a:spLocks noGrp="1"/>
          </p:cNvSpPr>
          <p:nvPr/>
        </p:nvSpPr>
        <p:spPr>
          <a:xfrm>
            <a:off x="6419850" y="3638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좋아요·조회 비교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68A28B-9819-4AB2-8A51-82FC5A824C03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표본이 다르다</a:t>
            </a:r>
          </a:p>
        </p:txBody>
      </p:sp>
      <p:sp>
        <p:nvSpPr>
          <p:cNvPr id="23" name="직선 연결선[R] 22">
            <a:extLst>
              <a:ext uri="{FF2B5EF4-FFF2-40B4-BE49-F238E27FC236}">
                <a16:creationId xmlns:a16="http://schemas.microsoft.com/office/drawing/2014/main" id="{2367CEC7-C670-4C3E-8989-D4B45ABCE711}"/>
              </a:ext>
            </a:extLst>
          </p:cNvPr>
          <p:cNvSpPr>
            <a:spLocks noGrp="1"/>
          </p:cNvSpPr>
          <p:nvPr/>
        </p:nvSpPr>
        <p:spPr>
          <a:xfrm>
            <a:off x="8515350" y="3676650"/>
            <a:ext cx="1524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EFA1B1FF-086F-4666-875F-8BEDD0A864CD}"/>
              </a:ext>
            </a:extLst>
          </p:cNvPr>
          <p:cNvSpPr>
            <a:spLocks noGrp="1"/>
          </p:cNvSpPr>
          <p:nvPr/>
        </p:nvSpPr>
        <p:spPr>
          <a:xfrm>
            <a:off x="8629650" y="3581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88E5A22-E0B0-487A-A21F-66F53605128F}"/>
              </a:ext>
            </a:extLst>
          </p:cNvPr>
          <p:cNvSpPr>
            <a:spLocks noGrp="1"/>
          </p:cNvSpPr>
          <p:nvPr/>
        </p:nvSpPr>
        <p:spPr>
          <a:xfrm>
            <a:off x="8934450" y="2838450"/>
            <a:ext cx="2266950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B5B936F-CF23-47C5-A729-571AEF2A523C}"/>
              </a:ext>
            </a:extLst>
          </p:cNvPr>
          <p:cNvSpPr>
            <a:spLocks noGrp="1"/>
          </p:cNvSpPr>
          <p:nvPr/>
        </p:nvSpPr>
        <p:spPr>
          <a:xfrm>
            <a:off x="9144000" y="3067050"/>
            <a:ext cx="342900" cy="342900"/>
          </a:xfrm>
          <a:prstGeom prst="ellipse">
            <a:avLst/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A7BD28-1F43-4043-A0EC-F615901601B2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00" b="1">
                <a:solidFill>
                  <a:srgbClr val="F15B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15B5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5252EF-A8E7-48DF-8C41-D6B608D5E10D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사장님이 선택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377F6D-B101-4CF9-A214-23718C48AEA7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결국 감으로 결정</a:t>
            </a:r>
            <a:r>
              <a:rPr sz="105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한다</a:t>
            </a:r>
            <a:endParaRPr sz="1050" b="0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33BEC2B0-DB49-4B43-B7E8-8EA594D2F4A3}"/>
              </a:ext>
            </a:extLst>
          </p:cNvPr>
          <p:cNvSpPr>
            <a:spLocks noGrp="1"/>
          </p:cNvSpPr>
          <p:nvPr/>
        </p:nvSpPr>
        <p:spPr>
          <a:xfrm>
            <a:off x="762000" y="4972050"/>
            <a:ext cx="10725150" cy="685800"/>
          </a:xfrm>
          <a:prstGeom prst="roundRect">
            <a:avLst>
              <a:gd name="adj" fmla="val 27778"/>
            </a:avLst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8B0E86-1904-4031-9411-00801D783CE3}"/>
              </a:ext>
            </a:extLst>
          </p:cNvPr>
          <p:cNvSpPr>
            <a:spLocks noGrp="1"/>
          </p:cNvSpPr>
          <p:nvPr/>
        </p:nvSpPr>
        <p:spPr>
          <a:xfrm>
            <a:off x="1047750" y="51911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1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B23B3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B23B3B"/>
                </a:solidFill>
                <a:latin typeface="Noto Sans KR"/>
                <a:ea typeface="Noto Sans KR"/>
                <a:cs typeface="Noto Sans KR"/>
              </a:rPr>
              <a:t>문제: 광고비와 시간이 먼저 들어가지만, 어떤 안이 더 좋은지 설명할 근거는 부족합니다.</a:t>
            </a:r>
          </a:p>
        </p:txBody>
      </p:sp>
      <p:sp>
        <p:nvSpPr>
          <p:cNvPr id="32" name="직선 연결선[R] 31">
            <a:extLst>
              <a:ext uri="{FF2B5EF4-FFF2-40B4-BE49-F238E27FC236}">
                <a16:creationId xmlns:a16="http://schemas.microsoft.com/office/drawing/2014/main" id="{0B8A4019-DD02-4388-AD96-0A151854829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2560AD3-5D25-4724-9583-DE7C9EE89822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753B0B-27DC-4DF7-86DD-4E4D26C66F16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778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8DAA77-0B97-4D97-BAC1-8574213E89B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01 / 문제의 차별성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24D811-FC93-4709-A96E-32A337EB313B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생성 이후의 선택과 검증이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비어 있습니다.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07850-27D2-49AC-A741-1EA1EA3E142E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PICK은 “더 많이 만들기”가 아니라 “무엇을 쓸지 결정하기”를 해결합니다.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7334F66-A0F2-4C0A-94EE-FC20A209A40B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857750" cy="238125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47F1B-394A-489B-B330-76DFB3F88340}"/>
              </a:ext>
            </a:extLst>
          </p:cNvPr>
          <p:cNvSpPr>
            <a:spLocks noGrp="1"/>
          </p:cNvSpPr>
          <p:nvPr/>
        </p:nvSpPr>
        <p:spPr>
          <a:xfrm>
            <a:off x="1028700" y="3048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lang="ko-KR" altLang="en-US" sz="97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 질문</a:t>
            </a:r>
            <a:endParaRPr sz="975" b="1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BC31DC-C1BF-4144-9600-8FF4D333F223}"/>
              </a:ext>
            </a:extLst>
          </p:cNvPr>
          <p:cNvSpPr>
            <a:spLocks noGrp="1"/>
          </p:cNvSpPr>
          <p:nvPr/>
        </p:nvSpPr>
        <p:spPr>
          <a:xfrm>
            <a:off x="1028700" y="35052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 b="1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“어떻게 </a:t>
            </a:r>
            <a:r>
              <a:rPr lang="ko-KR" altLang="en-US" sz="2550" b="1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저렴하게</a:t>
            </a:r>
            <a:endParaRPr sz="2550" b="1">
              <a:solidFill>
                <a:srgbClr val="3A4658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98000"/>
              </a:lnSpc>
              <a:buNone/>
              <a:defRPr sz="2550" b="1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포스터를 만들까?”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FE9AC67-28AC-40E0-807B-12B0C10DA652}"/>
              </a:ext>
            </a:extLst>
          </p:cNvPr>
          <p:cNvSpPr>
            <a:spLocks noGrp="1"/>
          </p:cNvSpPr>
          <p:nvPr/>
        </p:nvSpPr>
        <p:spPr>
          <a:xfrm>
            <a:off x="5924550" y="2724150"/>
            <a:ext cx="5581650" cy="2381250"/>
          </a:xfrm>
          <a:prstGeom prst="roundRect">
            <a:avLst>
              <a:gd name="adj" fmla="val 10400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C44F9A-514A-4B1A-A8D0-D0252FC7C8CD}"/>
              </a:ext>
            </a:extLst>
          </p:cNvPr>
          <p:cNvSpPr>
            <a:spLocks noGrp="1"/>
          </p:cNvSpPr>
          <p:nvPr/>
        </p:nvSpPr>
        <p:spPr>
          <a:xfrm>
            <a:off x="6305550" y="3048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THE PICK의 질문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DA8ED5-AA19-446B-B463-184D9EC81402}"/>
              </a:ext>
            </a:extLst>
          </p:cNvPr>
          <p:cNvSpPr>
            <a:spLocks noGrp="1"/>
          </p:cNvSpPr>
          <p:nvPr/>
        </p:nvSpPr>
        <p:spPr>
          <a:xfrm>
            <a:off x="6305550" y="3505200"/>
            <a:ext cx="4667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“이미 만든 포스터 중</a:t>
            </a:r>
          </a:p>
          <a:p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어느 것을 실제 고객에게 보여줄까?”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10C728-AADC-41FA-B40A-18174AFBAB98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광고 전에 고객 반응을 확인하는 사전 검증 레이어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68B71819-E83B-470E-BFD9-41A8958922C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28B4F2-1C5D-4A5E-AC58-79888458DFFF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EFE95A-9706-4C0C-B183-918E6512920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561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57ED165C-35A1-41C7-8870-EE2CBC81823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01 / 문제의 차별성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5C1762-51AA-43A0-8769-F8F44AC1A4A0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광고 전에, 고객에게 먼저 물어봅니다.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B39E4F-8668-4B34-84A6-9A3A3E2E62B4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두 가지 안을 비교하고, 더 선택받은 포스터를 실제 홍보에 활용합니다.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F70DBC7-6D9E-48F8-B574-9424F5038484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514350" cy="5143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FEF647-93E5-4335-BE70-EF296AC35665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CF7942-20DC-4935-BDB9-01F21292735C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27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A·B 등록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7500DC-D24E-4CA8-908F-E99DA71EEF5C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AI로 만든 두 포스터를 업로드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048AE9E9-2729-4501-BA0A-26436373FB85}"/>
              </a:ext>
            </a:extLst>
          </p:cNvPr>
          <p:cNvSpPr>
            <a:spLocks noGrp="1"/>
          </p:cNvSpPr>
          <p:nvPr/>
        </p:nvSpPr>
        <p:spPr>
          <a:xfrm>
            <a:off x="3028950" y="3257550"/>
            <a:ext cx="2286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BA0B61CA-7FDF-4E6D-9B59-125E501798B9}"/>
              </a:ext>
            </a:extLst>
          </p:cNvPr>
          <p:cNvSpPr>
            <a:spLocks noGrp="1"/>
          </p:cNvSpPr>
          <p:nvPr/>
        </p:nvSpPr>
        <p:spPr>
          <a:xfrm>
            <a:off x="3219450" y="316230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470B2AA-0AC8-4089-BBF9-A86F859A4C7C}"/>
              </a:ext>
            </a:extLst>
          </p:cNvPr>
          <p:cNvSpPr>
            <a:spLocks noGrp="1"/>
          </p:cNvSpPr>
          <p:nvPr/>
        </p:nvSpPr>
        <p:spPr>
          <a:xfrm>
            <a:off x="3638550" y="3009900"/>
            <a:ext cx="514350" cy="5143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164EF4-40C9-468E-BE2C-AEBF5E25575A}"/>
              </a:ext>
            </a:extLst>
          </p:cNvPr>
          <p:cNvSpPr>
            <a:spLocks noGrp="1"/>
          </p:cNvSpPr>
          <p:nvPr/>
        </p:nvSpPr>
        <p:spPr>
          <a:xfrm>
            <a:off x="3638550" y="31718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0170AA-20B2-4FB3-84C9-C7A56F24EBDC}"/>
              </a:ext>
            </a:extLst>
          </p:cNvPr>
          <p:cNvSpPr>
            <a:spLocks noGrp="1"/>
          </p:cNvSpPr>
          <p:nvPr/>
        </p:nvSpPr>
        <p:spPr>
          <a:xfrm>
            <a:off x="3543300" y="37909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27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테스트 설정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66E98D-F292-4804-AA56-432F6A0696FF}"/>
              </a:ext>
            </a:extLst>
          </p:cNvPr>
          <p:cNvSpPr>
            <a:spLocks noGrp="1"/>
          </p:cNvSpPr>
          <p:nvPr/>
        </p:nvSpPr>
        <p:spPr>
          <a:xfrm>
            <a:off x="3543300" y="419100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타겟·목표·마감일·</a:t>
            </a:r>
            <a:r>
              <a:rPr sz="120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결제</a:t>
            </a:r>
            <a:endParaRPr sz="1200" b="0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78340185-93FD-409A-9593-3FCEB2AD51B4}"/>
              </a:ext>
            </a:extLst>
          </p:cNvPr>
          <p:cNvSpPr>
            <a:spLocks noGrp="1"/>
          </p:cNvSpPr>
          <p:nvPr/>
        </p:nvSpPr>
        <p:spPr>
          <a:xfrm>
            <a:off x="5886450" y="3257550"/>
            <a:ext cx="2286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6C4EAE60-41B8-4E5C-AF0F-E8AAAA0F1636}"/>
              </a:ext>
            </a:extLst>
          </p:cNvPr>
          <p:cNvSpPr>
            <a:spLocks noGrp="1"/>
          </p:cNvSpPr>
          <p:nvPr/>
        </p:nvSpPr>
        <p:spPr>
          <a:xfrm>
            <a:off x="6076950" y="316230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37E56AA-8576-46FA-9FCC-E09EBD8C6406}"/>
              </a:ext>
            </a:extLst>
          </p:cNvPr>
          <p:cNvSpPr>
            <a:spLocks noGrp="1"/>
          </p:cNvSpPr>
          <p:nvPr/>
        </p:nvSpPr>
        <p:spPr>
          <a:xfrm>
            <a:off x="6496050" y="3009900"/>
            <a:ext cx="514350" cy="514350"/>
          </a:xfrm>
          <a:prstGeom prst="ellipse">
            <a:avLst/>
          </a:prstGeom>
          <a:solidFill>
            <a:srgbClr val="3182F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641BF7-7409-4CDF-A7BC-050182248354}"/>
              </a:ext>
            </a:extLst>
          </p:cNvPr>
          <p:cNvSpPr>
            <a:spLocks noGrp="1"/>
          </p:cNvSpPr>
          <p:nvPr/>
        </p:nvSpPr>
        <p:spPr>
          <a:xfrm>
            <a:off x="6496050" y="31718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5B0327-3580-4443-A059-C6825ECFE39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27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소비자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9BBE9B-BD39-4C9D-B256-99A108C3D49B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두 안을 보고 하나를 선택</a:t>
            </a:r>
          </a:p>
        </p:txBody>
      </p:sp>
      <p:sp>
        <p:nvSpPr>
          <p:cNvPr id="20" name="직선 연결선[R] 19">
            <a:extLst>
              <a:ext uri="{FF2B5EF4-FFF2-40B4-BE49-F238E27FC236}">
                <a16:creationId xmlns:a16="http://schemas.microsoft.com/office/drawing/2014/main" id="{16019B9D-115B-4930-995B-3946A211CAD1}"/>
              </a:ext>
            </a:extLst>
          </p:cNvPr>
          <p:cNvSpPr>
            <a:spLocks noGrp="1"/>
          </p:cNvSpPr>
          <p:nvPr/>
        </p:nvSpPr>
        <p:spPr>
          <a:xfrm>
            <a:off x="8743950" y="3257550"/>
            <a:ext cx="2286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3EF18176-9C3D-4927-B876-4DC967368DBD}"/>
              </a:ext>
            </a:extLst>
          </p:cNvPr>
          <p:cNvSpPr>
            <a:spLocks noGrp="1"/>
          </p:cNvSpPr>
          <p:nvPr/>
        </p:nvSpPr>
        <p:spPr>
          <a:xfrm>
            <a:off x="8934450" y="316230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520B85A-303A-4EE0-B611-A3CD6BDD024F}"/>
              </a:ext>
            </a:extLst>
          </p:cNvPr>
          <p:cNvSpPr>
            <a:spLocks noGrp="1"/>
          </p:cNvSpPr>
          <p:nvPr/>
        </p:nvSpPr>
        <p:spPr>
          <a:xfrm>
            <a:off x="9353550" y="3009900"/>
            <a:ext cx="514350" cy="5143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2C712C-CDDB-4F98-BB88-D2C1B7B27023}"/>
              </a:ext>
            </a:extLst>
          </p:cNvPr>
          <p:cNvSpPr>
            <a:spLocks noGrp="1"/>
          </p:cNvSpPr>
          <p:nvPr/>
        </p:nvSpPr>
        <p:spPr>
          <a:xfrm>
            <a:off x="9353550" y="31718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B1CB7B-8691-42C1-A25E-F71DC36A7979}"/>
              </a:ext>
            </a:extLst>
          </p:cNvPr>
          <p:cNvSpPr>
            <a:spLocks noGrp="1"/>
          </p:cNvSpPr>
          <p:nvPr/>
        </p:nvSpPr>
        <p:spPr>
          <a:xfrm>
            <a:off x="9258300" y="37909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27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결과 활용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F993D0-4CE6-406D-834E-7398DFC1DC76}"/>
              </a:ext>
            </a:extLst>
          </p:cNvPr>
          <p:cNvSpPr>
            <a:spLocks noGrp="1"/>
          </p:cNvSpPr>
          <p:nvPr/>
        </p:nvSpPr>
        <p:spPr>
          <a:xfrm>
            <a:off x="9258300" y="4191000"/>
            <a:ext cx="224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승자 포스터와 반응 확인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786EC5E-D648-4A1C-A236-E2872C56EA7F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33400"/>
          </a:xfrm>
          <a:prstGeom prst="roundRect">
            <a:avLst>
              <a:gd name="adj" fmla="val 32143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A7E379-927A-4C93-9B35-EA3E34609EA5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67" lnSpcReduction="10000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한 줄 정의  /  소비자 선택 기반 홍보물 사전 검증 플랫폼</a:t>
            </a:r>
          </a:p>
        </p:txBody>
      </p:sp>
      <p:sp>
        <p:nvSpPr>
          <p:cNvPr id="28" name="직선 연결선[R] 27">
            <a:extLst>
              <a:ext uri="{FF2B5EF4-FFF2-40B4-BE49-F238E27FC236}">
                <a16:creationId xmlns:a16="http://schemas.microsoft.com/office/drawing/2014/main" id="{EC2DF85B-62B4-4F74-A7CC-5C47D60CBC5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876ABF-B52C-44ED-9138-335EC86B7319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21ADC04-CCA5-445D-974E-5182DF083D6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7</a:t>
            </a:r>
            <a:endParaRPr sz="825" b="1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63279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B8D9EFE3-66EE-4269-AAD4-8C9E240D01A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02 / 작동하는 제품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E4D8F-892D-477C-BA81-1FBD3E1E8172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사장님은 세 단계로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테스트를 등록합니다.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F563F3-3A90-4ED0-AEF7-33819DC28F8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복잡한 광고 세팅 대신, 필요한 결정만 순서대로 입력합니다.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9F388A1-78DB-453F-9628-9C4276404A1B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181350" cy="257175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6711F7-BB43-4F6C-87D0-DB1D81BEFEE0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STEP 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FACE6D-E631-42F7-8833-E50CB02B3E3D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가게·포스터 등록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CD24D9-B022-4977-97D0-9F5BA8455A8D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057D8A-7F3F-4E6C-A2B0-BDB2D6A10E66}"/>
              </a:ext>
            </a:extLst>
          </p:cNvPr>
          <p:cNvSpPr>
            <a:spLocks noGrp="1"/>
          </p:cNvSpPr>
          <p:nvPr/>
        </p:nvSpPr>
        <p:spPr>
          <a:xfrm>
            <a:off x="1181100" y="40481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가게 이름·업종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3BCADE-3C88-416F-8025-4760734B7440}"/>
              </a:ext>
            </a:extLst>
          </p:cNvPr>
          <p:cNvSpPr>
            <a:spLocks noGrp="1"/>
          </p:cNvSpPr>
          <p:nvPr/>
        </p:nvSpPr>
        <p:spPr>
          <a:xfrm>
            <a:off x="971550" y="441960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68506E-794C-4E91-8912-49B9C4847A25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포스터 A / B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C1CC243-A230-4DAD-86DF-7AFB2D145D00}"/>
              </a:ext>
            </a:extLst>
          </p:cNvPr>
          <p:cNvSpPr>
            <a:spLocks noGrp="1"/>
          </p:cNvSpPr>
          <p:nvPr/>
        </p:nvSpPr>
        <p:spPr>
          <a:xfrm>
            <a:off x="971550" y="474345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E2531C-5CDE-4758-9F52-29F7E64F1A98}"/>
              </a:ext>
            </a:extLst>
          </p:cNvPr>
          <p:cNvSpPr>
            <a:spLocks noGrp="1"/>
          </p:cNvSpPr>
          <p:nvPr/>
        </p:nvSpPr>
        <p:spPr>
          <a:xfrm>
            <a:off x="1181100" y="46958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질문 문구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6F911C8B-2A6D-4649-A172-33A2E068994F}"/>
              </a:ext>
            </a:extLst>
          </p:cNvPr>
          <p:cNvSpPr>
            <a:spLocks noGrp="1"/>
          </p:cNvSpPr>
          <p:nvPr/>
        </p:nvSpPr>
        <p:spPr>
          <a:xfrm>
            <a:off x="3962400" y="3962400"/>
            <a:ext cx="1905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EDC4023A-613F-4D0C-A3D4-81613772A448}"/>
              </a:ext>
            </a:extLst>
          </p:cNvPr>
          <p:cNvSpPr>
            <a:spLocks noGrp="1"/>
          </p:cNvSpPr>
          <p:nvPr/>
        </p:nvSpPr>
        <p:spPr>
          <a:xfrm>
            <a:off x="4114800" y="386715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9CE3CC6-0A90-4681-8FB2-E72CAD66DF17}"/>
              </a:ext>
            </a:extLst>
          </p:cNvPr>
          <p:cNvSpPr>
            <a:spLocks noGrp="1"/>
          </p:cNvSpPr>
          <p:nvPr/>
        </p:nvSpPr>
        <p:spPr>
          <a:xfrm>
            <a:off x="4419600" y="2724150"/>
            <a:ext cx="3181350" cy="2571750"/>
          </a:xfrm>
          <a:prstGeom prst="roundRect">
            <a:avLst>
              <a:gd name="adj" fmla="val 9630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AAB204-05E6-4219-98E7-38EAEE0CD5BE}"/>
              </a:ext>
            </a:extLst>
          </p:cNvPr>
          <p:cNvSpPr>
            <a:spLocks noGrp="1"/>
          </p:cNvSpPr>
          <p:nvPr/>
        </p:nvSpPr>
        <p:spPr>
          <a:xfrm>
            <a:off x="4686300" y="30099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STEP 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53F3FE-9688-4F59-A617-2F3D82108923}"/>
              </a:ext>
            </a:extLst>
          </p:cNvPr>
          <p:cNvSpPr>
            <a:spLocks noGrp="1"/>
          </p:cNvSpPr>
          <p:nvPr/>
        </p:nvSpPr>
        <p:spPr>
          <a:xfrm>
            <a:off x="4686300" y="33909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투표 설정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834267-5332-4454-96A3-CE99B907603A}"/>
              </a:ext>
            </a:extLst>
          </p:cNvPr>
          <p:cNvSpPr>
            <a:spLocks noGrp="1"/>
          </p:cNvSpPr>
          <p:nvPr/>
        </p:nvSpPr>
        <p:spPr>
          <a:xfrm>
            <a:off x="4705350" y="4095750"/>
            <a:ext cx="95250" cy="95250"/>
          </a:xfrm>
          <a:prstGeom prst="ellipse">
            <a:avLst/>
          </a:prstGeom>
          <a:solidFill>
            <a:srgbClr val="75AE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B0FDB6-9CBB-4CEB-9D45-E223A0DC2DA7}"/>
              </a:ext>
            </a:extLst>
          </p:cNvPr>
          <p:cNvSpPr>
            <a:spLocks noGrp="1"/>
          </p:cNvSpPr>
          <p:nvPr/>
        </p:nvSpPr>
        <p:spPr>
          <a:xfrm>
            <a:off x="4914900" y="40481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목표 30·50·100명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56B1096-E7C2-4088-A145-6870E41B4C35}"/>
              </a:ext>
            </a:extLst>
          </p:cNvPr>
          <p:cNvSpPr>
            <a:spLocks noGrp="1"/>
          </p:cNvSpPr>
          <p:nvPr/>
        </p:nvSpPr>
        <p:spPr>
          <a:xfrm>
            <a:off x="4705350" y="4419600"/>
            <a:ext cx="95250" cy="95250"/>
          </a:xfrm>
          <a:prstGeom prst="ellipse">
            <a:avLst/>
          </a:prstGeom>
          <a:solidFill>
            <a:srgbClr val="75AE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C0F6B7-DB48-4E01-92A5-EDD297B4FFEC}"/>
              </a:ext>
            </a:extLst>
          </p:cNvPr>
          <p:cNvSpPr>
            <a:spLocks noGrp="1"/>
          </p:cNvSpPr>
          <p:nvPr/>
        </p:nvSpPr>
        <p:spPr>
          <a:xfrm>
            <a:off x="4914900" y="43719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마감일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5967F1-E2E8-4497-A88F-0F14C8F5F8F0}"/>
              </a:ext>
            </a:extLst>
          </p:cNvPr>
          <p:cNvSpPr>
            <a:spLocks noGrp="1"/>
          </p:cNvSpPr>
          <p:nvPr/>
        </p:nvSpPr>
        <p:spPr>
          <a:xfrm>
            <a:off x="4705350" y="4743450"/>
            <a:ext cx="95250" cy="95250"/>
          </a:xfrm>
          <a:prstGeom prst="ellipse">
            <a:avLst/>
          </a:prstGeom>
          <a:solidFill>
            <a:srgbClr val="75AE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306A9D-2575-4C72-8D89-E61625C6E182}"/>
              </a:ext>
            </a:extLst>
          </p:cNvPr>
          <p:cNvSpPr>
            <a:spLocks noGrp="1"/>
          </p:cNvSpPr>
          <p:nvPr/>
        </p:nvSpPr>
        <p:spPr>
          <a:xfrm>
            <a:off x="4914900" y="46958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참여자 30P</a:t>
            </a:r>
          </a:p>
        </p:txBody>
      </p:sp>
      <p:sp>
        <p:nvSpPr>
          <p:cNvPr id="24" name="직선 연결선[R] 23">
            <a:extLst>
              <a:ext uri="{FF2B5EF4-FFF2-40B4-BE49-F238E27FC236}">
                <a16:creationId xmlns:a16="http://schemas.microsoft.com/office/drawing/2014/main" id="{89B92518-2078-47BC-A3E1-08089383B299}"/>
              </a:ext>
            </a:extLst>
          </p:cNvPr>
          <p:cNvSpPr>
            <a:spLocks noGrp="1"/>
          </p:cNvSpPr>
          <p:nvPr/>
        </p:nvSpPr>
        <p:spPr>
          <a:xfrm>
            <a:off x="7696200" y="3962400"/>
            <a:ext cx="190500" cy="0"/>
          </a:xfrm>
          <a:prstGeom prst="line">
            <a:avLst/>
          </a:prstGeom>
          <a:noFill/>
          <a:ln w="28575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AC53EECA-6B59-402F-8F2C-4DA251C4D8F9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171450" cy="190500"/>
          </a:xfrm>
          <a:prstGeom prst="rightArrow">
            <a:avLst/>
          </a:prstGeom>
          <a:solidFill>
            <a:srgbClr val="3182F6"/>
          </a:solidFill>
          <a:ln w="0">
            <a:solidFill>
              <a:srgbClr val="31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4FECB9F-F287-4F0A-97A5-9BD9682D170B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3181350" cy="257175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EDFA05-C0B1-43B7-AE13-2E2D4A25F3CB}"/>
              </a:ext>
            </a:extLst>
          </p:cNvPr>
          <p:cNvSpPr>
            <a:spLocks noGrp="1"/>
          </p:cNvSpPr>
          <p:nvPr/>
        </p:nvSpPr>
        <p:spPr>
          <a:xfrm>
            <a:off x="8420100" y="30099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STEP 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529E4E-A306-4B97-B396-14BDB9CA2283}"/>
              </a:ext>
            </a:extLst>
          </p:cNvPr>
          <p:cNvSpPr>
            <a:spLocks noGrp="1"/>
          </p:cNvSpPr>
          <p:nvPr/>
        </p:nvSpPr>
        <p:spPr>
          <a:xfrm>
            <a:off x="8420100" y="33909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결제·검토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92F0897-D8A4-4DB4-80BF-23FF07E416B8}"/>
              </a:ext>
            </a:extLst>
          </p:cNvPr>
          <p:cNvSpPr>
            <a:spLocks noGrp="1"/>
          </p:cNvSpPr>
          <p:nvPr/>
        </p:nvSpPr>
        <p:spPr>
          <a:xfrm>
            <a:off x="8439150" y="409575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514C34-A178-4862-83DC-51DC7A9AD589}"/>
              </a:ext>
            </a:extLst>
          </p:cNvPr>
          <p:cNvSpPr>
            <a:spLocks noGrp="1"/>
          </p:cNvSpPr>
          <p:nvPr/>
        </p:nvSpPr>
        <p:spPr>
          <a:xfrm>
            <a:off x="8648700" y="40481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포스터 미리보기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95ABA0-FBD5-4D0D-A416-6C892117FE22}"/>
              </a:ext>
            </a:extLst>
          </p:cNvPr>
          <p:cNvSpPr>
            <a:spLocks noGrp="1"/>
          </p:cNvSpPr>
          <p:nvPr/>
        </p:nvSpPr>
        <p:spPr>
          <a:xfrm>
            <a:off x="8439150" y="441960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3B32C8-5359-4C51-88C2-134D4FED40E5}"/>
              </a:ext>
            </a:extLst>
          </p:cNvPr>
          <p:cNvSpPr>
            <a:spLocks noGrp="1"/>
          </p:cNvSpPr>
          <p:nvPr/>
        </p:nvSpPr>
        <p:spPr>
          <a:xfrm>
            <a:off x="8648700" y="43719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충전형 크레딧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F96FB87-1D9C-48CE-B839-DDA2C7781331}"/>
              </a:ext>
            </a:extLst>
          </p:cNvPr>
          <p:cNvSpPr>
            <a:spLocks noGrp="1"/>
          </p:cNvSpPr>
          <p:nvPr/>
        </p:nvSpPr>
        <p:spPr>
          <a:xfrm>
            <a:off x="8439150" y="4743450"/>
            <a:ext cx="95250" cy="95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1560892-CCDA-4BED-BEB7-6114C81E1609}"/>
              </a:ext>
            </a:extLst>
          </p:cNvPr>
          <p:cNvSpPr>
            <a:spLocks noGrp="1"/>
          </p:cNvSpPr>
          <p:nvPr/>
        </p:nvSpPr>
        <p:spPr>
          <a:xfrm>
            <a:off x="8648700" y="46958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투표 시작</a:t>
            </a:r>
          </a:p>
        </p:txBody>
      </p:sp>
      <p:sp>
        <p:nvSpPr>
          <p:cNvPr id="35" name="직선 연결선[R] 34">
            <a:extLst>
              <a:ext uri="{FF2B5EF4-FFF2-40B4-BE49-F238E27FC236}">
                <a16:creationId xmlns:a16="http://schemas.microsoft.com/office/drawing/2014/main" id="{D01513EC-5322-48D5-ABF1-19EC8BF2675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B02A9A-9C94-49EE-B738-00FBA3AB2A8C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2EE443-A45D-4DC6-B462-1A756B8A7DD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altLang="ko-KR"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8</a:t>
            </a:r>
            <a:endParaRPr sz="825" b="1">
              <a:solidFill>
                <a:srgbClr val="6B7688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3109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311A6F-E339-4318-9D71-0AE1084D0D1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02 / 작동하는 제품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F5350C-13E7-4769-8CBB-FBE231791504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사장님은 이렇게 시작합니다.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C581CA-8736-4605-9977-89F66214A971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역할을 고르고 가게 정보를 등록하면 첫 A/B 테스트를 만들 수 있습니다.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063EFAA-D77B-40C5-A54E-15DE57E3F37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2724150"/>
          </a:xfrm>
          <a:prstGeom prst="roundRect">
            <a:avLst>
              <a:gd name="adj" fmla="val 9790"/>
            </a:avLst>
          </a:prstGeom>
          <a:solidFill>
            <a:srgbClr val="102A5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8A49F9-C8AD-46C8-A832-8CCAF38EB1CD}"/>
              </a:ext>
            </a:extLst>
          </p:cNvPr>
          <p:cNvSpPr>
            <a:spLocks noGrp="1"/>
          </p:cNvSpPr>
          <p:nvPr/>
        </p:nvSpPr>
        <p:spPr>
          <a:xfrm>
            <a:off x="135255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역할 선택·로그인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11D3CF-F3F2-40C3-9801-2B9EE4BCDB37}"/>
              </a:ext>
            </a:extLst>
          </p:cNvPr>
          <p:cNvSpPr>
            <a:spLocks noGrp="1"/>
          </p:cNvSpPr>
          <p:nvPr/>
        </p:nvSpPr>
        <p:spPr>
          <a:xfrm>
            <a:off x="350520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인증·가게 정보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425117-5187-40D0-A51F-CDD83D378BC8}"/>
              </a:ext>
            </a:extLst>
          </p:cNvPr>
          <p:cNvSpPr>
            <a:spLocks noGrp="1"/>
          </p:cNvSpPr>
          <p:nvPr/>
        </p:nvSpPr>
        <p:spPr>
          <a:xfrm>
            <a:off x="565785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가입 완료·역할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77507B-3D78-4C6A-92B8-BF8332383568}"/>
              </a:ext>
            </a:extLst>
          </p:cNvPr>
          <p:cNvSpPr>
            <a:spLocks noGrp="1"/>
          </p:cNvSpPr>
          <p:nvPr/>
        </p:nvSpPr>
        <p:spPr>
          <a:xfrm>
            <a:off x="8248650" y="3162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rPr>
              <a:t>시작하기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C5C2A4-6FCC-4F5C-A0E7-B8F11F6E0F90}"/>
              </a:ext>
            </a:extLst>
          </p:cNvPr>
          <p:cNvSpPr>
            <a:spLocks noGrp="1"/>
          </p:cNvSpPr>
          <p:nvPr/>
        </p:nvSpPr>
        <p:spPr>
          <a:xfrm>
            <a:off x="8248650" y="356235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사장님 역할 선택</a:t>
            </a:r>
          </a:p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로그인·휴대폰 인증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6BCEFD-523D-4AC5-A85C-DDAD37EBB5EF}"/>
              </a:ext>
            </a:extLst>
          </p:cNvPr>
          <p:cNvSpPr>
            <a:spLocks noGrp="1"/>
          </p:cNvSpPr>
          <p:nvPr/>
        </p:nvSpPr>
        <p:spPr>
          <a:xfrm>
            <a:off x="82486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rPr>
              <a:t>가입 완료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6C614D-3868-4FF6-A7C0-DD179012EED0}"/>
              </a:ext>
            </a:extLst>
          </p:cNvPr>
          <p:cNvSpPr>
            <a:spLocks noGrp="1"/>
          </p:cNvSpPr>
          <p:nvPr/>
        </p:nvSpPr>
        <p:spPr>
          <a:xfrm>
            <a:off x="8248650" y="48577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가게 정보·약관 동의</a:t>
            </a:r>
          </a:p>
          <a:p>
            <a:pPr algn="l">
              <a:lnSpc>
                <a:spcPct val="9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대시보드 진입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40C9FE-4432-4B53-95D1-C177440A426F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역할 선택 → 로그인·인증 → 가게 정보 → 약관 동의 → 홈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93AF2348-B005-4BCA-8083-07AAD3356EE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311D6E-34BF-4CFB-9990-53CE87212CD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E99CB4-CE15-4B26-B2BF-3258483FADE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C04965-900C-86AD-778C-05F2BC6F1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96" y="2514598"/>
            <a:ext cx="1232382" cy="2667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4A29CB4-B367-7AF6-FB4F-CCBECB9D1E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73" y="2520949"/>
            <a:ext cx="1232382" cy="2667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D92643-AC23-4320-9486-5D7E23A387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54" y="2501895"/>
            <a:ext cx="1238251" cy="267970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584E78-8F55-949C-F1B7-981F4FA7E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254" y="2492372"/>
            <a:ext cx="1238251" cy="267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69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311A6F-E339-4318-9D71-0AE1084D0D1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02 / 작동하는 제품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F5350C-13E7-4769-8CBB-FBE231791504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A/B 테스트는 네 단계로 끝납니다.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C581CA-8736-4605-9977-89F66214A971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포스터를 등록하고 조건을 정하면 진행 현황과 승자 포스터까지 이어집니다.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063EFAA-D77B-40C5-A54E-15DE57E3F37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2724150"/>
          </a:xfrm>
          <a:prstGeom prst="roundRect">
            <a:avLst>
              <a:gd name="adj" fmla="val 9790"/>
            </a:avLst>
          </a:prstGeom>
          <a:solidFill>
            <a:srgbClr val="102A5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8A49F9-C8AD-46C8-A832-8CCAF38EB1CD}"/>
              </a:ext>
            </a:extLst>
          </p:cNvPr>
          <p:cNvSpPr>
            <a:spLocks noGrp="1"/>
          </p:cNvSpPr>
          <p:nvPr/>
        </p:nvSpPr>
        <p:spPr>
          <a:xfrm>
            <a:off x="135255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포스터 등록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11D3CF-F3F2-40C3-9801-2B9EE4BCDB37}"/>
              </a:ext>
            </a:extLst>
          </p:cNvPr>
          <p:cNvSpPr>
            <a:spLocks noGrp="1"/>
          </p:cNvSpPr>
          <p:nvPr/>
        </p:nvSpPr>
        <p:spPr>
          <a:xfrm>
            <a:off x="350520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2. 조건 설정·시작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425117-5187-40D0-A51F-CDD83D378BC8}"/>
              </a:ext>
            </a:extLst>
          </p:cNvPr>
          <p:cNvSpPr>
            <a:spLocks noGrp="1"/>
          </p:cNvSpPr>
          <p:nvPr/>
        </p:nvSpPr>
        <p:spPr>
          <a:xfrm>
            <a:off x="5657850" y="52768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3. 진행 확인·결과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77507B-3D78-4C6A-92B8-BF8332383568}"/>
              </a:ext>
            </a:extLst>
          </p:cNvPr>
          <p:cNvSpPr>
            <a:spLocks noGrp="1"/>
          </p:cNvSpPr>
          <p:nvPr/>
        </p:nvSpPr>
        <p:spPr>
          <a:xfrm>
            <a:off x="8248650" y="3162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rPr>
              <a:t>테스트 만들기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C5C2A4-6FCC-4F5C-A0E7-B8F11F6E0F90}"/>
              </a:ext>
            </a:extLst>
          </p:cNvPr>
          <p:cNvSpPr>
            <a:spLocks noGrp="1"/>
          </p:cNvSpPr>
          <p:nvPr/>
        </p:nvSpPr>
        <p:spPr>
          <a:xfrm>
            <a:off x="8248650" y="356235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포스터 A/B 등록</a:t>
            </a:r>
          </a:p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목표 투표 수·기간 설정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6BCEFD-523D-4AC5-A85C-DDAD37EBB5EF}"/>
              </a:ext>
            </a:extLst>
          </p:cNvPr>
          <p:cNvSpPr>
            <a:spLocks noGrp="1"/>
          </p:cNvSpPr>
          <p:nvPr/>
        </p:nvSpPr>
        <p:spPr>
          <a:xfrm>
            <a:off x="82486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CB3FF"/>
                </a:solidFill>
                <a:latin typeface="Noto Sans KR"/>
                <a:ea typeface="Noto Sans KR"/>
                <a:cs typeface="Noto Sans KR"/>
              </a:rPr>
              <a:t>결과 활용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6C614D-3868-4FF6-A7C0-DD179012EED0}"/>
              </a:ext>
            </a:extLst>
          </p:cNvPr>
          <p:cNvSpPr>
            <a:spLocks noGrp="1"/>
          </p:cNvSpPr>
          <p:nvPr/>
        </p:nvSpPr>
        <p:spPr>
          <a:xfrm>
            <a:off x="8248650" y="48577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진행률 확인</a:t>
            </a:r>
          </a:p>
          <a:p>
            <a:pPr algn="l">
              <a:lnSpc>
                <a:spcPct val="9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승자 포스터 다운로드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40C9FE-4432-4B53-95D1-C177440A426F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등록 → 설정·결제 → 투표 진행 → 결과 확인·다운로드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93AF2348-B005-4BCA-8083-07AAD3356EE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311D6E-34BF-4CFB-9990-53CE87212CD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E99CB4-CE15-4B26-B2BF-3258483FADE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78A055-7DCA-2869-E8EF-D27474A89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858" y="2362201"/>
            <a:ext cx="1267592" cy="27431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0052143-DDE9-FB57-C231-231A20A63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033" y="2352675"/>
            <a:ext cx="1267592" cy="27431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3A14CDE-A9C3-6223-306A-9C46B1365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762" y="2352676"/>
            <a:ext cx="1267592" cy="274319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5D5DC12-D840-E817-0596-5B146B81DB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954" y="2324100"/>
            <a:ext cx="1267591" cy="274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6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DB8DF283-B3F6-4E1D-B87E-87F7BD6C860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02 / 작동하는 제품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DB1F36-74FD-4575-AE1C-250E94E7C5C5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핵심 흐름은 화면에서 실제로 이어집니다.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FE347B-F8F0-4F5C-8A04-D3D041D1E6B5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사장님 온보딩부터 투표 등록·결과 확인까지 하나의 데모 경로로 연결했습니다.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8D2DD15-E8DE-4F5B-8860-B0B8766E38B3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181350" cy="28003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A5DA74-A64A-470E-A5F4-4ED4AF5CB497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C37FC5-39B8-4132-AAFD-AD280F9702AC}"/>
              </a:ext>
            </a:extLst>
          </p:cNvPr>
          <p:cNvSpPr>
            <a:spLocks noGrp="1"/>
          </p:cNvSpPr>
          <p:nvPr/>
        </p:nvSpPr>
        <p:spPr>
          <a:xfrm>
            <a:off x="933450" y="3371850"/>
            <a:ext cx="2343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고객이 고른 포스터로,</a:t>
            </a:r>
          </a:p>
          <a:p>
            <a:pPr algn="l">
              <a:lnSpc>
                <a:spcPct val="98000"/>
              </a:lnSpc>
              <a:buNone/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더 확신 있게 홍보하세요.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B7EA9C5-FD50-471F-AF81-BCDE201645AA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2647950" cy="819150"/>
          </a:xfrm>
          <a:prstGeom prst="roundRect">
            <a:avLst>
              <a:gd name="adj" fmla="val 18605"/>
            </a:avLst>
          </a:prstGeom>
          <a:solidFill>
            <a:srgbClr val="F2F7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CDAFEC-75AC-4656-8EFA-89BAA5A549C7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진행 중 투표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4985E3-9E05-4F6F-BDF5-BA0B50F61BFD}"/>
              </a:ext>
            </a:extLst>
          </p:cNvPr>
          <p:cNvSpPr>
            <a:spLocks noGrp="1"/>
          </p:cNvSpPr>
          <p:nvPr/>
        </p:nvSpPr>
        <p:spPr>
          <a:xfrm>
            <a:off x="1104900" y="45529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551" lnSpcReduction="10000"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42 / 100명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53FFC7-52FB-4A30-A685-805F1D35CEC6}"/>
              </a:ext>
            </a:extLst>
          </p:cNvPr>
          <p:cNvSpPr>
            <a:spLocks noGrp="1"/>
          </p:cNvSpPr>
          <p:nvPr/>
        </p:nvSpPr>
        <p:spPr>
          <a:xfrm>
            <a:off x="2571750" y="45529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→ 결과 보기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E548636-6924-4C13-B3CF-E48E6C042A3B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181350" cy="28003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CE83A0E-A899-4D21-BB44-AC78CA89A4A9}"/>
              </a:ext>
            </a:extLst>
          </p:cNvPr>
          <p:cNvSpPr>
            <a:spLocks noGrp="1"/>
          </p:cNvSpPr>
          <p:nvPr/>
        </p:nvSpPr>
        <p:spPr>
          <a:xfrm>
            <a:off x="4686300" y="2971800"/>
            <a:ext cx="7810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95D2CF-7773-4BF9-9222-11B7E41F5F24}"/>
              </a:ext>
            </a:extLst>
          </p:cNvPr>
          <p:cNvSpPr>
            <a:spLocks noGrp="1"/>
          </p:cNvSpPr>
          <p:nvPr/>
        </p:nvSpPr>
        <p:spPr>
          <a:xfrm>
            <a:off x="4686300" y="30480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STEP 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6CF949-B8E1-4440-954F-FA1E036C6BAF}"/>
              </a:ext>
            </a:extLst>
          </p:cNvPr>
          <p:cNvSpPr>
            <a:spLocks noGrp="1"/>
          </p:cNvSpPr>
          <p:nvPr/>
        </p:nvSpPr>
        <p:spPr>
          <a:xfrm>
            <a:off x="4686300" y="3467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포스터 등록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0A723E-D294-4402-A5E4-C1B6A2387C3E}"/>
              </a:ext>
            </a:extLst>
          </p:cNvPr>
          <p:cNvSpPr>
            <a:spLocks noGrp="1"/>
          </p:cNvSpPr>
          <p:nvPr/>
        </p:nvSpPr>
        <p:spPr>
          <a:xfrm>
            <a:off x="4686300" y="40005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가게 이름   민지의 딸기 카페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FD208EE-6E63-47BD-A2B9-4F9F93599F51}"/>
              </a:ext>
            </a:extLst>
          </p:cNvPr>
          <p:cNvSpPr>
            <a:spLocks noGrp="1"/>
          </p:cNvSpPr>
          <p:nvPr/>
        </p:nvSpPr>
        <p:spPr>
          <a:xfrm>
            <a:off x="4686300" y="4343400"/>
            <a:ext cx="1123950" cy="685800"/>
          </a:xfrm>
          <a:prstGeom prst="roundRect">
            <a:avLst>
              <a:gd name="adj" fmla="val 19444"/>
            </a:avLst>
          </a:prstGeom>
          <a:solidFill>
            <a:srgbClr val="FFCF6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0A26D96-DEF7-49CA-9757-7A8AA1DC34BA}"/>
              </a:ext>
            </a:extLst>
          </p:cNvPr>
          <p:cNvSpPr>
            <a:spLocks noGrp="1"/>
          </p:cNvSpPr>
          <p:nvPr/>
        </p:nvSpPr>
        <p:spPr>
          <a:xfrm>
            <a:off x="5962650" y="4343400"/>
            <a:ext cx="1123950" cy="685800"/>
          </a:xfrm>
          <a:prstGeom prst="roundRect">
            <a:avLst>
              <a:gd name="adj" fmla="val 19444"/>
            </a:avLst>
          </a:prstGeom>
          <a:solidFill>
            <a:srgbClr val="B9D7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A171E9-3BDD-48BC-BB72-A38B5715F955}"/>
              </a:ext>
            </a:extLst>
          </p:cNvPr>
          <p:cNvSpPr>
            <a:spLocks noGrp="1"/>
          </p:cNvSpPr>
          <p:nvPr/>
        </p:nvSpPr>
        <p:spPr>
          <a:xfrm>
            <a:off x="4857750" y="45529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B432C7-8DCE-430D-BC26-2117E4C21924}"/>
              </a:ext>
            </a:extLst>
          </p:cNvPr>
          <p:cNvSpPr>
            <a:spLocks noGrp="1"/>
          </p:cNvSpPr>
          <p:nvPr/>
        </p:nvSpPr>
        <p:spPr>
          <a:xfrm>
            <a:off x="6134100" y="45529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67" lnSpcReduction="10000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0E56740-81C1-4A8A-9A15-DA88B247DED6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314700" cy="2800350"/>
          </a:xfrm>
          <a:prstGeom prst="roundRect">
            <a:avLst>
              <a:gd name="adj" fmla="val 8163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4CFA64F-0592-4D85-B9B3-F438226AF717}"/>
              </a:ext>
            </a:extLst>
          </p:cNvPr>
          <p:cNvSpPr>
            <a:spLocks noGrp="1"/>
          </p:cNvSpPr>
          <p:nvPr/>
        </p:nvSpPr>
        <p:spPr>
          <a:xfrm>
            <a:off x="8458200" y="29908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완료된 투표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BF7417-FDD3-4025-B74B-2A9A51558BD0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고객이 고른 포스터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069906-788D-403C-9489-F8DA659EDEDA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33" lnSpcReduction="10000"/>
          </a:bodyPr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A안 68%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AD7C13-D504-4DE2-9B7D-A3D5B37FADD5}"/>
              </a:ext>
            </a:extLst>
          </p:cNvPr>
          <p:cNvSpPr>
            <a:spLocks noGrp="1"/>
          </p:cNvSpPr>
          <p:nvPr/>
        </p:nvSpPr>
        <p:spPr>
          <a:xfrm>
            <a:off x="10287000" y="41148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2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B안 32%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FD393A-0DE3-41DB-B41D-B7D086344258}"/>
              </a:ext>
            </a:extLst>
          </p:cNvPr>
          <p:cNvSpPr>
            <a:spLocks noGrp="1"/>
          </p:cNvSpPr>
          <p:nvPr/>
        </p:nvSpPr>
        <p:spPr>
          <a:xfrm>
            <a:off x="8458200" y="4705350"/>
            <a:ext cx="2552700" cy="114300"/>
          </a:xfrm>
          <a:prstGeom prst="rect">
            <a:avLst/>
          </a:prstGeom>
          <a:solidFill>
            <a:srgbClr val="78B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100CA-1BD9-4B57-BE4E-CA1979D6CB7F}"/>
              </a:ext>
            </a:extLst>
          </p:cNvPr>
          <p:cNvSpPr>
            <a:spLocks noGrp="1"/>
          </p:cNvSpPr>
          <p:nvPr/>
        </p:nvSpPr>
        <p:spPr>
          <a:xfrm>
            <a:off x="8458200" y="4705350"/>
            <a:ext cx="1733550" cy="114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52A23D7-9512-4870-9D0D-60EE23E92BCB}"/>
              </a:ext>
            </a:extLst>
          </p:cNvPr>
          <p:cNvSpPr>
            <a:spLocks noGrp="1"/>
          </p:cNvSpPr>
          <p:nvPr/>
        </p:nvSpPr>
        <p:spPr>
          <a:xfrm>
            <a:off x="8458200" y="50482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A안이 36표 더 많은 선택</a:t>
            </a:r>
          </a:p>
        </p:txBody>
      </p:sp>
      <p:sp>
        <p:nvSpPr>
          <p:cNvPr id="28" name="직선 연결선[R] 27">
            <a:extLst>
              <a:ext uri="{FF2B5EF4-FFF2-40B4-BE49-F238E27FC236}">
                <a16:creationId xmlns:a16="http://schemas.microsoft.com/office/drawing/2014/main" id="{49CF04D8-AA49-4A59-9BEA-76FBE0210B6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E113E4-D4CE-4844-9A98-24781F52EA8F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9E8717-258B-4F87-81DB-F921AD8EE802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760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750ABD4-8BF5-46B8-8386-23F9CFB41477}"/>
              </a:ext>
            </a:extLst>
          </p:cNvPr>
          <p:cNvSpPr>
            <a:spLocks noGrp="1"/>
          </p:cNvSpPr>
          <p:nvPr/>
        </p:nvSpPr>
        <p:spPr>
          <a:xfrm>
            <a:off x="3009900" y="3048000"/>
            <a:ext cx="1619250" cy="2419350"/>
          </a:xfrm>
          <a:prstGeom prst="roundRect">
            <a:avLst>
              <a:gd name="adj" fmla="val 14118"/>
            </a:avLst>
          </a:prstGeom>
          <a:solidFill>
            <a:srgbClr val="B9D7FF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25D4A3-1AAA-48B7-998B-0A2BCA14B51B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133600" cy="2743200"/>
          </a:xfrm>
          <a:prstGeom prst="roundRect">
            <a:avLst>
              <a:gd name="adj" fmla="val 10714"/>
            </a:avLst>
          </a:prstGeom>
          <a:solidFill>
            <a:srgbClr val="FFCF6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6" name="그림 30">
            <a:extLst>
              <a:ext uri="{FF2B5EF4-FFF2-40B4-BE49-F238E27FC236}">
                <a16:creationId xmlns:a16="http://schemas.microsoft.com/office/drawing/2014/main" id="{8C8AAE29-A8F3-D1B2-B826-D123EEC6FA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6"/>
          <a:stretch>
            <a:fillRect/>
          </a:stretch>
        </p:blipFill>
        <p:spPr>
          <a:xfrm>
            <a:off x="990600" y="2802524"/>
            <a:ext cx="1524000" cy="1862553"/>
          </a:xfrm>
          <a:prstGeom prst="roundRect">
            <a:avLst/>
          </a:prstGeom>
        </p:spPr>
      </p:pic>
      <p:pic>
        <p:nvPicPr>
          <p:cNvPr id="35" name="그림 32">
            <a:extLst>
              <a:ext uri="{FF2B5EF4-FFF2-40B4-BE49-F238E27FC236}">
                <a16:creationId xmlns:a16="http://schemas.microsoft.com/office/drawing/2014/main" id="{703D3384-70AB-B8D1-D4C6-24BF4ED33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635" y="3111012"/>
            <a:ext cx="1114644" cy="1608992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8194FC-7108-4580-BE08-7B7B8BCFAAD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02 / 작동하는 제품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8347C5-9870-4D3C-BBEF-18884AE2A7C2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복잡한 통계 대신,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바로 쓸 포스터를 알려줍니다.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052D43-D9E3-40DE-AF87-5823CF43916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데모 데이터 기준: 현재 참여자 표본에서 A안이 더 많은 선택을 받았습니다.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84EA2B8-C502-4BF7-8B8E-90A3409FED96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457200" cy="457200"/>
          </a:xfrm>
          <a:prstGeom prst="ellipse">
            <a:avLst/>
          </a:prstGeom>
          <a:solidFill>
            <a:srgbClr val="FFF0B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E44FF05-9AE2-4992-B21B-569AF8A0533F}"/>
              </a:ext>
            </a:extLst>
          </p:cNvPr>
          <p:cNvSpPr>
            <a:spLocks noGrp="1"/>
          </p:cNvSpPr>
          <p:nvPr/>
        </p:nvSpPr>
        <p:spPr>
          <a:xfrm>
            <a:off x="2133600" y="2971800"/>
            <a:ext cx="419100" cy="419100"/>
          </a:xfrm>
          <a:prstGeom prst="ellipse">
            <a:avLst/>
          </a:prstGeom>
          <a:solidFill>
            <a:srgbClr val="F9A9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36A840-59D4-45D2-8C6E-DA7587249AB1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C4210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907B9885-DE90-44BA-9968-534F410AA30F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1600200" cy="0"/>
          </a:xfrm>
          <a:prstGeom prst="line">
            <a:avLst/>
          </a:prstGeom>
          <a:noFill/>
          <a:ln w="19050">
            <a:solidFill>
              <a:srgbClr val="5C42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649FEC-4A87-4CC7-B9AE-EE89B76C5CEE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5C421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C4210"/>
                </a:solidFill>
                <a:latin typeface="Noto Sans KR"/>
                <a:ea typeface="Noto Sans KR"/>
                <a:cs typeface="Noto Sans KR"/>
              </a:rPr>
              <a:t>선택률 68%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08B2CAE-D3AB-4A17-9607-2539985F5749}"/>
              </a:ext>
            </a:extLst>
          </p:cNvPr>
          <p:cNvSpPr>
            <a:spLocks noGrp="1"/>
          </p:cNvSpPr>
          <p:nvPr/>
        </p:nvSpPr>
        <p:spPr>
          <a:xfrm>
            <a:off x="3124200" y="2914651"/>
            <a:ext cx="457200" cy="45720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7BCC0D-84C4-44D6-82AD-452FC0BEC155}"/>
              </a:ext>
            </a:extLst>
          </p:cNvPr>
          <p:cNvSpPr>
            <a:spLocks noGrp="1"/>
          </p:cNvSpPr>
          <p:nvPr/>
        </p:nvSpPr>
        <p:spPr>
          <a:xfrm>
            <a:off x="3143250" y="304102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4345D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A67E3D98-59DF-467B-97DF-64D05458CFEF}"/>
              </a:ext>
            </a:extLst>
          </p:cNvPr>
          <p:cNvSpPr>
            <a:spLocks noGrp="1"/>
          </p:cNvSpPr>
          <p:nvPr/>
        </p:nvSpPr>
        <p:spPr>
          <a:xfrm>
            <a:off x="3276600" y="4743450"/>
            <a:ext cx="1085850" cy="0"/>
          </a:xfrm>
          <a:prstGeom prst="line">
            <a:avLst/>
          </a:prstGeom>
          <a:noFill/>
          <a:ln w="19050">
            <a:solidFill>
              <a:srgbClr val="1434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341A83-D201-4E1F-8869-A0A4CBFCB411}"/>
              </a:ext>
            </a:extLst>
          </p:cNvPr>
          <p:cNvSpPr>
            <a:spLocks noGrp="1"/>
          </p:cNvSpPr>
          <p:nvPr/>
        </p:nvSpPr>
        <p:spPr>
          <a:xfrm>
            <a:off x="3276600" y="49339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4345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4345D"/>
                </a:solidFill>
                <a:latin typeface="Noto Sans KR"/>
                <a:ea typeface="Noto Sans KR"/>
                <a:cs typeface="Noto Sans KR"/>
              </a:rPr>
              <a:t>선택률 32%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3AA2CA7-8F48-4ED2-B322-EBA3C4CB5CA7}"/>
              </a:ext>
            </a:extLst>
          </p:cNvPr>
          <p:cNvSpPr>
            <a:spLocks noGrp="1"/>
          </p:cNvSpPr>
          <p:nvPr/>
        </p:nvSpPr>
        <p:spPr>
          <a:xfrm>
            <a:off x="5219700" y="2724150"/>
            <a:ext cx="6286500" cy="2743200"/>
          </a:xfrm>
          <a:prstGeom prst="roundRect">
            <a:avLst>
              <a:gd name="adj" fmla="val 9028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85B319-856B-46AE-9B1B-4738F3DA1319}"/>
              </a:ext>
            </a:extLst>
          </p:cNvPr>
          <p:cNvSpPr>
            <a:spLocks noGrp="1"/>
          </p:cNvSpPr>
          <p:nvPr/>
        </p:nvSpPr>
        <p:spPr>
          <a:xfrm>
            <a:off x="5619750" y="30861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A안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E14ED4-E0D7-4592-B933-77A0D6FBBD1C}"/>
              </a:ext>
            </a:extLst>
          </p:cNvPr>
          <p:cNvSpPr>
            <a:spLocks noGrp="1"/>
          </p:cNvSpPr>
          <p:nvPr/>
        </p:nvSpPr>
        <p:spPr>
          <a:xfrm>
            <a:off x="5619750" y="342900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83" lnSpcReduction="10000"/>
          </a:bodyPr>
          <a:lstStyle/>
          <a:p>
            <a:pPr algn="l">
              <a:lnSpc>
                <a:spcPct val="115000"/>
              </a:lnSpc>
              <a:buNone/>
              <a:defRPr sz="40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68%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9303B-28EA-4FE2-81E5-79A0B0C255B8}"/>
              </a:ext>
            </a:extLst>
          </p:cNvPr>
          <p:cNvSpPr>
            <a:spLocks noGrp="1"/>
          </p:cNvSpPr>
          <p:nvPr/>
        </p:nvSpPr>
        <p:spPr>
          <a:xfrm>
            <a:off x="9448800" y="36576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350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B안 32%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524D40-2EF9-4D84-B033-A8872218DB72}"/>
              </a:ext>
            </a:extLst>
          </p:cNvPr>
          <p:cNvSpPr>
            <a:spLocks noGrp="1"/>
          </p:cNvSpPr>
          <p:nvPr/>
        </p:nvSpPr>
        <p:spPr>
          <a:xfrm>
            <a:off x="5619750" y="4362450"/>
            <a:ext cx="5029200" cy="171450"/>
          </a:xfrm>
          <a:prstGeom prst="rect">
            <a:avLst/>
          </a:prstGeom>
          <a:solidFill>
            <a:srgbClr val="E8ED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5A6D89-6E44-420D-AF47-3B7C27CA5998}"/>
              </a:ext>
            </a:extLst>
          </p:cNvPr>
          <p:cNvSpPr>
            <a:spLocks noGrp="1"/>
          </p:cNvSpPr>
          <p:nvPr/>
        </p:nvSpPr>
        <p:spPr>
          <a:xfrm>
            <a:off x="5619750" y="4362450"/>
            <a:ext cx="3419475" cy="171450"/>
          </a:xfrm>
          <a:prstGeom prst="rect">
            <a:avLst/>
          </a:prstGeom>
          <a:solidFill>
            <a:srgbClr val="3182F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944B03-00D4-4235-B267-726F40EA7C61}"/>
              </a:ext>
            </a:extLst>
          </p:cNvPr>
          <p:cNvSpPr>
            <a:spLocks noGrp="1"/>
          </p:cNvSpPr>
          <p:nvPr/>
        </p:nvSpPr>
        <p:spPr>
          <a:xfrm>
            <a:off x="5619750" y="4838700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1,240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8474D0-CB07-4CC5-91AF-3504DB7D6E08}"/>
              </a:ext>
            </a:extLst>
          </p:cNvPr>
          <p:cNvSpPr>
            <a:spLocks noGrp="1"/>
          </p:cNvSpPr>
          <p:nvPr/>
        </p:nvSpPr>
        <p:spPr>
          <a:xfrm>
            <a:off x="5829300" y="56483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노출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BFBD5B-2FC2-492C-AF9A-F7FDD1899B52}"/>
              </a:ext>
            </a:extLst>
          </p:cNvPr>
          <p:cNvSpPr>
            <a:spLocks noGrp="1"/>
          </p:cNvSpPr>
          <p:nvPr/>
        </p:nvSpPr>
        <p:spPr>
          <a:xfrm>
            <a:off x="7810500" y="4838700"/>
            <a:ext cx="1428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5B9373-DA44-417F-A7B3-BD65552C5C57}"/>
              </a:ext>
            </a:extLst>
          </p:cNvPr>
          <p:cNvSpPr>
            <a:spLocks noGrp="1"/>
          </p:cNvSpPr>
          <p:nvPr/>
        </p:nvSpPr>
        <p:spPr>
          <a:xfrm>
            <a:off x="7810500" y="56483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투표 참여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724211-86E7-4DA8-B092-2C03CD30F462}"/>
              </a:ext>
            </a:extLst>
          </p:cNvPr>
          <p:cNvSpPr>
            <a:spLocks noGrp="1"/>
          </p:cNvSpPr>
          <p:nvPr/>
        </p:nvSpPr>
        <p:spPr>
          <a:xfrm>
            <a:off x="9810750" y="4838700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86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491E8E2-A6AF-4D7C-907B-8531E269952F}"/>
              </a:ext>
            </a:extLst>
          </p:cNvPr>
          <p:cNvSpPr>
            <a:spLocks noGrp="1"/>
          </p:cNvSpPr>
          <p:nvPr/>
        </p:nvSpPr>
        <p:spPr>
          <a:xfrm>
            <a:off x="9654540" y="56483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가게 정보 확인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99C2BA-28E4-44AF-B443-71FE70B850ED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* 데모 데이터 / 매출 보장이 아닌 첫 반응 신호</a:t>
            </a:r>
          </a:p>
        </p:txBody>
      </p:sp>
      <p:sp>
        <p:nvSpPr>
          <p:cNvPr id="31" name="직선 연결선[R] 30">
            <a:extLst>
              <a:ext uri="{FF2B5EF4-FFF2-40B4-BE49-F238E27FC236}">
                <a16:creationId xmlns:a16="http://schemas.microsoft.com/office/drawing/2014/main" id="{3EE36320-A89E-40FC-818B-9895870075B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E976C4-D8A1-4B6A-B141-47389E4AA85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A6BEB34-FFCC-4B19-8A11-74B4FB5C81D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924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69A19DE4-A535-4050-89DD-EEA47F9072F8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03 / GPT-CODEX BUILD ORCHESTRATION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F91B89-8BE9-4EC0-940C-409BD9239D65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아이디어를 검증 가능한 제품 흐름으로 쪼갰습니다.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382C90-A43F-43DE-A68E-CECD1543BC9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GPT-Codex는 화면을 만드는 도구이자, 제품 상태와 구현 범위를 정리하는 파트너였습니다.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22E7E18-641D-42A6-9965-8D7AD84F9C73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960AA8-1FE4-4D88-AF01-5CF8CD951163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5541E2-1EF1-4FCD-8B32-743580188A42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제품 문장</a:t>
            </a:r>
          </a:p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·페르소나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175840E-EA3A-45FC-A7B0-9D3711D87C93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3810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DA9679F8-113A-42E4-AC3A-BEAD0D38786A}"/>
              </a:ext>
            </a:extLst>
          </p:cNvPr>
          <p:cNvSpPr>
            <a:spLocks noGrp="1"/>
          </p:cNvSpPr>
          <p:nvPr/>
        </p:nvSpPr>
        <p:spPr>
          <a:xfrm>
            <a:off x="2095500" y="3200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0713452-3EC9-4A9E-943F-C7098A4481DE}"/>
              </a:ext>
            </a:extLst>
          </p:cNvPr>
          <p:cNvSpPr>
            <a:spLocks noGrp="1"/>
          </p:cNvSpPr>
          <p:nvPr/>
        </p:nvSpPr>
        <p:spPr>
          <a:xfrm>
            <a:off x="3048000" y="30099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949169-2114-465D-B391-53A4EE6BC8E6}"/>
              </a:ext>
            </a:extLst>
          </p:cNvPr>
          <p:cNvSpPr>
            <a:spLocks noGrp="1"/>
          </p:cNvSpPr>
          <p:nvPr/>
        </p:nvSpPr>
        <p:spPr>
          <a:xfrm>
            <a:off x="3048000" y="32004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726A41-8CF5-47D6-AADE-1C739E1065FB}"/>
              </a:ext>
            </a:extLst>
          </p:cNvPr>
          <p:cNvSpPr>
            <a:spLocks noGrp="1"/>
          </p:cNvSpPr>
          <p:nvPr/>
        </p:nvSpPr>
        <p:spPr>
          <a:xfrm>
            <a:off x="2743200" y="39243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사용자 흐름</a:t>
            </a:r>
          </a:p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·상태 분해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A64CEC96-C428-429D-97D4-0DBC0847F614}"/>
              </a:ext>
            </a:extLst>
          </p:cNvPr>
          <p:cNvSpPr>
            <a:spLocks noGrp="1"/>
          </p:cNvSpPr>
          <p:nvPr/>
        </p:nvSpPr>
        <p:spPr>
          <a:xfrm>
            <a:off x="3848100" y="3295650"/>
            <a:ext cx="3810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CB7B9DB9-79C7-4D2C-A4C0-6CC68D3DCB9B}"/>
              </a:ext>
            </a:extLst>
          </p:cNvPr>
          <p:cNvSpPr>
            <a:spLocks noGrp="1"/>
          </p:cNvSpPr>
          <p:nvPr/>
        </p:nvSpPr>
        <p:spPr>
          <a:xfrm>
            <a:off x="4191000" y="3200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7A9879-DCB2-4CEC-B559-81A4563497ED}"/>
              </a:ext>
            </a:extLst>
          </p:cNvPr>
          <p:cNvSpPr>
            <a:spLocks noGrp="1"/>
          </p:cNvSpPr>
          <p:nvPr/>
        </p:nvSpPr>
        <p:spPr>
          <a:xfrm>
            <a:off x="5143500" y="3009900"/>
            <a:ext cx="571500" cy="571500"/>
          </a:xfrm>
          <a:prstGeom prst="ellipse">
            <a:avLst/>
          </a:prstGeom>
          <a:solidFill>
            <a:srgbClr val="3182F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278899-EDF7-4119-873B-87C3FC009457}"/>
              </a:ext>
            </a:extLst>
          </p:cNvPr>
          <p:cNvSpPr>
            <a:spLocks noGrp="1"/>
          </p:cNvSpPr>
          <p:nvPr/>
        </p:nvSpPr>
        <p:spPr>
          <a:xfrm>
            <a:off x="5143500" y="32004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61CE02-6C29-4C6C-BD37-85F194E30045}"/>
              </a:ext>
            </a:extLst>
          </p:cNvPr>
          <p:cNvSpPr>
            <a:spLocks noGrp="1"/>
          </p:cNvSpPr>
          <p:nvPr/>
        </p:nvSpPr>
        <p:spPr>
          <a:xfrm>
            <a:off x="4838700" y="39243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화면·모달</a:t>
            </a:r>
          </a:p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·온보딩 구현</a:t>
            </a:r>
          </a:p>
        </p:txBody>
      </p:sp>
      <p:sp>
        <p:nvSpPr>
          <p:cNvPr id="17" name="직선 연결선[R] 16">
            <a:extLst>
              <a:ext uri="{FF2B5EF4-FFF2-40B4-BE49-F238E27FC236}">
                <a16:creationId xmlns:a16="http://schemas.microsoft.com/office/drawing/2014/main" id="{B3DCB303-5938-44C8-AA1D-45EC369CA7FC}"/>
              </a:ext>
            </a:extLst>
          </p:cNvPr>
          <p:cNvSpPr>
            <a:spLocks noGrp="1"/>
          </p:cNvSpPr>
          <p:nvPr/>
        </p:nvSpPr>
        <p:spPr>
          <a:xfrm>
            <a:off x="5943600" y="3295650"/>
            <a:ext cx="3810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3C782EAC-45DE-4561-BF84-777D60C7CE76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C34497B-CD7E-4572-97B5-FDCA6C1B36B6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877B9E-DF22-43F3-AE10-EBA446ECFE5E}"/>
              </a:ext>
            </a:extLst>
          </p:cNvPr>
          <p:cNvSpPr>
            <a:spLocks noGrp="1"/>
          </p:cNvSpPr>
          <p:nvPr/>
        </p:nvSpPr>
        <p:spPr>
          <a:xfrm>
            <a:off x="7239000" y="32004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5A84DD-5E94-49B2-99DE-6B5AB770B648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버튼 흐름</a:t>
            </a:r>
          </a:p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·코드 검증</a:t>
            </a:r>
          </a:p>
        </p:txBody>
      </p:sp>
      <p:sp>
        <p:nvSpPr>
          <p:cNvPr id="22" name="직선 연결선[R] 21">
            <a:extLst>
              <a:ext uri="{FF2B5EF4-FFF2-40B4-BE49-F238E27FC236}">
                <a16:creationId xmlns:a16="http://schemas.microsoft.com/office/drawing/2014/main" id="{D2204419-6B6B-412D-A243-AEC19585549F}"/>
              </a:ext>
            </a:extLst>
          </p:cNvPr>
          <p:cNvSpPr>
            <a:spLocks noGrp="1"/>
          </p:cNvSpPr>
          <p:nvPr/>
        </p:nvSpPr>
        <p:spPr>
          <a:xfrm>
            <a:off x="8039100" y="3295650"/>
            <a:ext cx="381000" cy="0"/>
          </a:xfrm>
          <a:prstGeom prst="line">
            <a:avLst/>
          </a:prstGeom>
          <a:noFill/>
          <a:ln w="2857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오른쪽 화살표[R] 22">
            <a:extLst>
              <a:ext uri="{FF2B5EF4-FFF2-40B4-BE49-F238E27FC236}">
                <a16:creationId xmlns:a16="http://schemas.microsoft.com/office/drawing/2014/main" id="{982001DD-8C7A-40CC-94BC-83DC6F4C95D9}"/>
              </a:ext>
            </a:extLst>
          </p:cNvPr>
          <p:cNvSpPr>
            <a:spLocks noGrp="1"/>
          </p:cNvSpPr>
          <p:nvPr/>
        </p:nvSpPr>
        <p:spPr>
          <a:xfrm>
            <a:off x="8382000" y="3200400"/>
            <a:ext cx="171450" cy="190500"/>
          </a:xfrm>
          <a:prstGeom prst="rightArrow">
            <a:avLst/>
          </a:prstGeom>
          <a:solidFill>
            <a:srgbClr val="E8EDF5"/>
          </a:solidFill>
          <a:ln w="0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19432C0-C696-45A1-B452-7B0FD4626965}"/>
              </a:ext>
            </a:extLst>
          </p:cNvPr>
          <p:cNvSpPr>
            <a:spLocks noGrp="1"/>
          </p:cNvSpPr>
          <p:nvPr/>
        </p:nvSpPr>
        <p:spPr>
          <a:xfrm>
            <a:off x="9334500" y="30099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99F017-C5C5-498C-8A58-34789FDD005F}"/>
              </a:ext>
            </a:extLst>
          </p:cNvPr>
          <p:cNvSpPr>
            <a:spLocks noGrp="1"/>
          </p:cNvSpPr>
          <p:nvPr/>
        </p:nvSpPr>
        <p:spPr>
          <a:xfrm>
            <a:off x="9334500" y="32004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345FB7-C6F4-4122-8702-74D135456A3A}"/>
              </a:ext>
            </a:extLst>
          </p:cNvPr>
          <p:cNvSpPr>
            <a:spLocks noGrp="1"/>
          </p:cNvSpPr>
          <p:nvPr/>
        </p:nvSpPr>
        <p:spPr>
          <a:xfrm>
            <a:off x="9029700" y="39243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문서·로드맵</a:t>
            </a:r>
          </a:p>
          <a:p>
            <a:pPr algn="ctr">
              <a:lnSpc>
                <a:spcPct val="98000"/>
              </a:lnSpc>
              <a:buNone/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·경계 기록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8158ACB-E0F6-4CAD-931F-4DE258EC181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57150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A13553-779A-4B88-8655-E9E5DE41FE68}"/>
              </a:ext>
            </a:extLst>
          </p:cNvPr>
          <p:cNvSpPr>
            <a:spLocks noGrp="1"/>
          </p:cNvSpPr>
          <p:nvPr/>
        </p:nvSpPr>
        <p:spPr>
          <a:xfrm>
            <a:off x="971550" y="5219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B64DA"/>
                </a:solidFill>
                <a:latin typeface="Noto Sans KR"/>
                <a:ea typeface="Noto Sans KR"/>
                <a:cs typeface="Noto Sans KR"/>
              </a:rPr>
              <a:t>팀이 결정한 것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B931CAD-A824-48AC-B4A1-FB019878C0D5}"/>
              </a:ext>
            </a:extLst>
          </p:cNvPr>
          <p:cNvSpPr>
            <a:spLocks noGrp="1"/>
          </p:cNvSpPr>
          <p:nvPr/>
        </p:nvSpPr>
        <p:spPr>
          <a:xfrm>
            <a:off x="2571750" y="52197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A465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3A4658"/>
                </a:solidFill>
                <a:latin typeface="Noto Sans KR"/>
                <a:ea typeface="Noto Sans KR"/>
                <a:cs typeface="Noto Sans KR"/>
              </a:rPr>
              <a:t>문제·범위·리워드·가격 방향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7EDE17F-5C98-4B4C-BF52-F85571E1C341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4838700" cy="723900"/>
          </a:xfrm>
          <a:prstGeom prst="roundRect">
            <a:avLst>
              <a:gd name="adj" fmla="val 26316"/>
            </a:avLst>
          </a:prstGeom>
          <a:solidFill>
            <a:srgbClr val="102A5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B4D02F-EB12-4A58-9A5C-C9330A98E8FA}"/>
              </a:ext>
            </a:extLst>
          </p:cNvPr>
          <p:cNvSpPr>
            <a:spLocks noGrp="1"/>
          </p:cNvSpPr>
          <p:nvPr/>
        </p:nvSpPr>
        <p:spPr>
          <a:xfrm>
            <a:off x="8305800" y="52006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기록으로 확인한 협업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AF9EC2-CA66-44C2-88E5-6852DF33B7D9}"/>
              </a:ext>
            </a:extLst>
          </p:cNvPr>
          <p:cNvSpPr>
            <a:spLocks noGrp="1"/>
          </p:cNvSpPr>
          <p:nvPr/>
        </p:nvSpPr>
        <p:spPr>
          <a:xfrm>
            <a:off x="8305800" y="54483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C8DBF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C8DBF8"/>
                </a:solidFill>
                <a:latin typeface="Noto Sans KR"/>
                <a:ea typeface="Noto Sans KR"/>
                <a:cs typeface="Noto Sans KR"/>
              </a:rPr>
              <a:t>Figma 시안 → Codex 구현 → 클릭 검증</a:t>
            </a:r>
          </a:p>
        </p:txBody>
      </p:sp>
      <p:sp>
        <p:nvSpPr>
          <p:cNvPr id="34" name="직선 연결선[R] 33">
            <a:extLst>
              <a:ext uri="{FF2B5EF4-FFF2-40B4-BE49-F238E27FC236}">
                <a16:creationId xmlns:a16="http://schemas.microsoft.com/office/drawing/2014/main" id="{49B8F77B-8AD7-4E40-B962-58D994A29D2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A54907-5206-4698-98A8-8DD9B40AEFB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00F63B-4725-414A-8A5D-1051FF3F685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0903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64C105-2916-4420-B3B8-F5072352436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04 / 사용자 가치·협업·통합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B7515F-8EA4-4653-8610-D73F823CE5EB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사장님은 확신을 얻고,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소비자는 짧은 참여로 보상받습니다.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5D2FFE-83BE-4170-8ECC-1DE609CC980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서로 다른 사용자의 작은 행동이 하나의 의사결정으로 연결됩니다.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3F7608F-A73D-41A1-B201-E559C859B8F7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5048250" cy="2438400"/>
          </a:xfrm>
          <a:prstGeom prst="roundRect">
            <a:avLst>
              <a:gd name="adj" fmla="val 10156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BD5374-0E2D-4B5D-8AD9-D300A41EC2D7}"/>
              </a:ext>
            </a:extLst>
          </p:cNvPr>
          <p:cNvSpPr>
            <a:spLocks noGrp="1"/>
          </p:cNvSpPr>
          <p:nvPr/>
        </p:nvSpPr>
        <p:spPr>
          <a:xfrm>
            <a:off x="1028700" y="31242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사장님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833893-32B4-4B8B-BBF0-D95F263E26FF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유료 테스트 등록 후</a:t>
            </a:r>
          </a:p>
          <a:p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승자 포스터와 반응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4F52A3-739C-49C9-8C6A-A8CEAFF62E5D}"/>
              </a:ext>
            </a:extLst>
          </p:cNvPr>
          <p:cNvSpPr>
            <a:spLocks noGrp="1"/>
          </p:cNvSpPr>
          <p:nvPr/>
        </p:nvSpPr>
        <p:spPr>
          <a:xfrm>
            <a:off x="1028700" y="4610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DDEBFF"/>
                </a:solidFill>
                <a:latin typeface="Noto Sans KR"/>
                <a:ea typeface="Noto Sans KR"/>
                <a:cs typeface="Noto Sans KR"/>
              </a:rPr>
              <a:t>취향이 아닌 소비자 반응으로 결정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0F8ED09-AE81-457F-85D3-9FF605591B7B}"/>
              </a:ext>
            </a:extLst>
          </p:cNvPr>
          <p:cNvSpPr>
            <a:spLocks noGrp="1"/>
          </p:cNvSpPr>
          <p:nvPr/>
        </p:nvSpPr>
        <p:spPr>
          <a:xfrm>
            <a:off x="6076950" y="2781300"/>
            <a:ext cx="5429250" cy="2438400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530E39-8021-4C6F-B0DF-9ACB8BD099CE}"/>
              </a:ext>
            </a:extLst>
          </p:cNvPr>
          <p:cNvSpPr>
            <a:spLocks noGrp="1"/>
          </p:cNvSpPr>
          <p:nvPr/>
        </p:nvSpPr>
        <p:spPr>
          <a:xfrm>
            <a:off x="6438900" y="31242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B364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B364"/>
                </a:solidFill>
                <a:latin typeface="Noto Sans KR"/>
                <a:ea typeface="Noto Sans KR"/>
                <a:cs typeface="Noto Sans KR"/>
              </a:rPr>
              <a:t>소비자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E39F62-BF6E-4653-88C9-927D56D36D57}"/>
              </a:ext>
            </a:extLst>
          </p:cNvPr>
          <p:cNvSpPr>
            <a:spLocks noGrp="1"/>
          </p:cNvSpPr>
          <p:nvPr/>
        </p:nvSpPr>
        <p:spPr>
          <a:xfrm>
            <a:off x="6438900" y="3581400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2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포스터를 선택하고</a:t>
            </a:r>
          </a:p>
          <a:p>
            <a:pPr algn="l">
              <a:lnSpc>
                <a:spcPct val="98000"/>
              </a:lnSpc>
              <a:buNone/>
              <a:defRPr sz="22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참여 포인트 적립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DBC70E-8108-455B-962C-953679861604}"/>
              </a:ext>
            </a:extLst>
          </p:cNvPr>
          <p:cNvSpPr>
            <a:spLocks noGrp="1"/>
          </p:cNvSpPr>
          <p:nvPr/>
        </p:nvSpPr>
        <p:spPr>
          <a:xfrm>
            <a:off x="6438900" y="4610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새로운 가게와 홍보물을 발견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2D0C54D-0811-4B92-BA6F-63583E534C67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820400" cy="400050"/>
          </a:xfrm>
          <a:prstGeom prst="roundRect">
            <a:avLst>
              <a:gd name="adj" fmla="val 33333"/>
            </a:avLst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741972-6EF3-4B79-8203-D1336CEEDFC5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47A4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47A47"/>
                </a:solidFill>
                <a:latin typeface="Noto Sans KR"/>
                <a:ea typeface="Noto Sans KR"/>
                <a:cs typeface="Noto Sans KR"/>
              </a:rPr>
              <a:t>AI 디자인 도구와 경쟁하지 않고, 생성 이후의 선택 단계를 연결합니다.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6679C346-1D62-44E1-886F-4A5DA5DAF1C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1666C2-F915-423E-9CC2-0C1E7033738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03EEED-3D75-4C5A-BE07-F9D1A90797EA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74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5F7C2F-ACE8-47D6-A524-1B180D39E09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04 / 사용자 가치·협업·통합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EB89DE-773C-4819-978A-5FEFF2393D0E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7" lnSpcReduction="10000"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선택의 문제를 다루는</a:t>
            </a:r>
          </a:p>
          <a:p>
            <a:pPr algn="l">
              <a:lnSpc>
                <a:spcPct val="100000"/>
              </a:lnSpc>
              <a:buNone/>
              <a:def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범용 A/B 플랫폼으로 확장합니다.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51427F-53A9-43C1-B9F3-7A1A3922FEC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포스터에서 시작해 메뉴·상품·페이지를 거쳐 기업과 개인의 선택까지 연결합니다.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C7CAA8D-BD54-4B71-A390-55314D6D1D79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2362200"/>
          </a:xfrm>
          <a:prstGeom prst="roundRect">
            <a:avLst>
              <a:gd name="adj" fmla="val 10484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AACBFB-BAF2-4453-9304-80309D19CEA3}"/>
              </a:ext>
            </a:extLst>
          </p:cNvPr>
          <p:cNvSpPr>
            <a:spLocks noGrp="1"/>
          </p:cNvSpPr>
          <p:nvPr/>
        </p:nvSpPr>
        <p:spPr>
          <a:xfrm>
            <a:off x="1028700" y="3124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현재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092A4F-26A4-4C4A-83D9-E80D88C43ABF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자영업자 홍보물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A507A3-43E2-4D89-A47E-DB65F680C021}"/>
              </a:ext>
            </a:extLst>
          </p:cNvPr>
          <p:cNvSpPr>
            <a:spLocks noGrp="1"/>
          </p:cNvSpPr>
          <p:nvPr/>
        </p:nvSpPr>
        <p:spPr>
          <a:xfrm>
            <a:off x="1028700" y="46101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포스터 A/B 투표 · 결과 확인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81E3567-8FB3-4D23-84EF-71A3E093086C}"/>
              </a:ext>
            </a:extLst>
          </p:cNvPr>
          <p:cNvSpPr>
            <a:spLocks noGrp="1"/>
          </p:cNvSpPr>
          <p:nvPr/>
        </p:nvSpPr>
        <p:spPr>
          <a:xfrm>
            <a:off x="5886450" y="2781300"/>
            <a:ext cx="5619750" cy="2362200"/>
          </a:xfrm>
          <a:prstGeom prst="roundRect">
            <a:avLst>
              <a:gd name="adj" fmla="val 10484"/>
            </a:avLst>
          </a:prstGeom>
          <a:solidFill>
            <a:srgbClr val="3182F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887883-9A28-4246-B2D4-A92BE7B7CDB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확장 로드맵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33BA56-2069-4167-9C6C-29DFAF60F219}"/>
              </a:ext>
            </a:extLst>
          </p:cNvPr>
          <p:cNvSpPr>
            <a:spLocks noGrp="1"/>
          </p:cNvSpPr>
          <p:nvPr/>
        </p:nvSpPr>
        <p:spPr>
          <a:xfrm>
            <a:off x="6248400" y="35623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34" lnSpcReduction="10000"/>
          </a:bodyPr>
          <a:lstStyle/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자영업자 → 기업 → 개인</a:t>
            </a:r>
          </a:p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메뉴·상품·상세페이지·브랜드</a:t>
            </a:r>
          </a:p>
          <a:p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모든 분야의 A/B 선택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E23E3-18ED-4321-BF18-A85C7CC65E0F}"/>
              </a:ext>
            </a:extLst>
          </p:cNvPr>
          <p:cNvSpPr>
            <a:spLocks noGrp="1"/>
          </p:cNvSpPr>
          <p:nvPr/>
        </p:nvSpPr>
        <p:spPr>
          <a:xfrm>
            <a:off x="6248400" y="46101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선택을 대신해주는 범용 플랫폼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ADABF6-0050-48E9-AF51-09AA9E0D5A0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궁극적으로는 모든 분야의 선택을 고객과 시장에게 먼저 검증받는 서비스로 확장합니다.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49EA0252-84E7-4CAE-9F2A-ADDA23020B9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E68FBC-7EAB-40D8-BDDE-B952E34BC2C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THE PICK / THANK YOU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F53920-F158-444A-9E78-6867F674EDB9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B7688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42497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1671</Words>
  <Application>Microsoft Macintosh PowerPoint</Application>
  <DocSecurity>0</DocSecurity>
  <PresentationFormat>와이드스크린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곽경준</cp:lastModifiedBy>
  <cp:revision>1</cp:revision>
  <dcterms:created xsi:type="dcterms:W3CDTF">2026-08-16T08:07:10Z</dcterms:created>
  <dcterms:modified xsi:type="dcterms:W3CDTF">2026-08-16T08:25:46Z</dcterms:modified>
</cp:coreProperties>
</file>